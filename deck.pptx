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microsoft.com/office/2007/relationships/media" Target="../media/media1.mp4"/><Relationship Id="rId4" Type="http://schemas.openxmlformats.org/officeDocument/2006/relationships/video" Target="../media/media1.mp4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microsoft.com/office/2007/relationships/media" Target="../media/media2.mp4"/><Relationship Id="rId4" Type="http://schemas.openxmlformats.org/officeDocument/2006/relationships/video" Target="../media/media2.mp4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microsoft.com/office/2007/relationships/media" Target="../media/media3.mp4"/><Relationship Id="rId4" Type="http://schemas.openxmlformats.org/officeDocument/2006/relationships/video" Target="../media/media3.mp4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microsoft.com/office/2007/relationships/media" Target="../media/media4.mp4"/><Relationship Id="rId4" Type="http://schemas.openxmlformats.org/officeDocument/2006/relationships/video" Target="../media/media4.mp4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microsoft.com/office/2007/relationships/media" Target="../media/media5.mp4"/><Relationship Id="rId4" Type="http://schemas.openxmlformats.org/officeDocument/2006/relationships/video" Target="../media/media5.mp4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841500"/>
            <a:ext cx="7531100" cy="7395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824"/>
              </a:lnSpc>
            </a:pPr>
            <a:r>
              <a:rPr sz="5600" b="0" spc="-150">
                <a:solidFill>
                  <a:srgbClr val="F2F5FA"/>
                </a:solidFill>
                <a:latin typeface="Segoe UI Semibold"/>
              </a:rPr>
              <a:t>The review </a:t>
            </a:r>
            <a:r>
              <a:rPr sz="5600" b="0" spc="-150">
                <a:solidFill>
                  <a:srgbClr val="3DD9FF"/>
                </a:solidFill>
                <a:latin typeface="Segoe UI Semibold"/>
              </a:rPr>
              <a:t>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4064000"/>
            <a:ext cx="63881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000" b="0">
                <a:solidFill>
                  <a:srgbClr val="C9D3E8"/>
                </a:solidFill>
                <a:latin typeface="Segoe UI"/>
              </a:rPr>
              <a:t>How to check what an agent wrote, and make every review better than the last.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5778500"/>
            <a:ext cx="2470844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5"/>
              </a:lnSpc>
            </a:pPr>
            <a:r>
              <a:rPr sz="1500" b="0">
                <a:solidFill>
                  <a:srgbClr val="F2F5FA"/>
                </a:solidFill>
                <a:latin typeface="Segoe UI Semibold"/>
              </a:rPr>
              <a:t>Kenneth Rohde Christiansen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200" y="6054725"/>
            <a:ext cx="3262808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5"/>
              </a:lnSpc>
            </a:pPr>
            <a:r>
              <a:rPr sz="1500" b="0">
                <a:solidFill>
                  <a:srgbClr val="8A97B1"/>
                </a:solidFill>
                <a:latin typeface="Segoe UI"/>
              </a:rPr>
              <a:t>review-loop · open source, Apache-2.0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651000"/>
            <a:ext cx="9944100" cy="182254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784"/>
              </a:lnSpc>
            </a:pPr>
            <a:r>
              <a:rPr sz="4600" b="0" spc="-100">
                <a:solidFill>
                  <a:srgbClr val="F2F5FA"/>
                </a:solidFill>
                <a:latin typeface="Segoe UI Semibold"/>
              </a:rPr>
              <a:t>The agent writes the change in minutes. </a:t>
            </a:r>
            <a:r>
              <a:rPr sz="4600" b="0" spc="-100">
                <a:solidFill>
                  <a:srgbClr val="3DD9FF"/>
                </a:solidFill>
                <a:latin typeface="Segoe UI Semibold"/>
              </a:rPr>
              <a:t>Someone still has to be sure it is right.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3829050"/>
            <a:ext cx="8674100" cy="719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100" b="0">
                <a:solidFill>
                  <a:srgbClr val="C9D3E8"/>
                </a:solidFill>
                <a:latin typeface="Segoe UI"/>
              </a:rPr>
              <a:t>This talk is about that someone, and how to stop them being a bottleneck.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586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20"/>
              </a:lnSpc>
            </a:pPr>
            <a:r>
              <a:rPr sz="4400" b="0" spc="-75">
                <a:solidFill>
                  <a:srgbClr val="F2F5FA"/>
                </a:solidFill>
                <a:latin typeface="Segoe UI Semibold"/>
              </a:rPr>
              <a:t>Where we are going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2806700"/>
            <a:ext cx="15214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500" b="0" spc="-50">
                <a:solidFill>
                  <a:srgbClr val="F2F5FA"/>
                </a:solidFill>
                <a:latin typeface="Segoe UI Semibold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3644900"/>
            <a:ext cx="1521420" cy="841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B9C5DD"/>
                </a:solidFill>
                <a:latin typeface="Segoe UI"/>
              </a:rPr>
              <a:t>Writing got cheap. Reading did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9720" y="2806700"/>
            <a:ext cx="1521519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500" b="0" spc="-50">
                <a:solidFill>
                  <a:srgbClr val="F2F5FA"/>
                </a:solidFill>
                <a:latin typeface="Segoe UI Semibold"/>
              </a:rPr>
              <a:t>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9720" y="3644900"/>
            <a:ext cx="1521519" cy="1121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B9C5DD"/>
                </a:solidFill>
                <a:latin typeface="Segoe UI"/>
              </a:rPr>
              <a:t>What one team found, and how review-loop answers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54339" y="2806700"/>
            <a:ext cx="152142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500" b="0" spc="-50">
                <a:solidFill>
                  <a:srgbClr val="F2F5FA"/>
                </a:solidFill>
                <a:latin typeface="Segoe UI Semibold"/>
              </a:rPr>
              <a:t>The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4339" y="3302000"/>
            <a:ext cx="1521420" cy="841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B9C5DD"/>
                </a:solidFill>
                <a:latin typeface="Segoe UI"/>
              </a:rPr>
              <a:t>What a review is made of, and what it costs.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8860" y="2806700"/>
            <a:ext cx="1521519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500" b="0" spc="-50">
                <a:solidFill>
                  <a:srgbClr val="F2F5FA"/>
                </a:solidFill>
                <a:latin typeface="Segoe UI Semibold"/>
              </a:rPr>
              <a:t>In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8860" y="3302000"/>
            <a:ext cx="1521519" cy="841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B9C5DD"/>
                </a:solidFill>
                <a:latin typeface="Segoe UI"/>
              </a:rPr>
              <a:t>Four levels, and learning from outside review.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43479" y="2806700"/>
            <a:ext cx="15214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500" b="0" spc="-50">
                <a:solidFill>
                  <a:srgbClr val="F2F5FA"/>
                </a:solidFill>
                <a:latin typeface="Segoe UI Semibold"/>
              </a:rPr>
              <a:t>For managers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43479" y="3644900"/>
            <a:ext cx="1521420" cy="1121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B9C5DD"/>
                </a:solidFill>
                <a:latin typeface="Segoe UI"/>
              </a:rPr>
              <a:t>What to measure, who owns it, how to start.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3810000"/>
            <a:ext cx="9563100" cy="8289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528"/>
              </a:lnSpc>
            </a:pPr>
            <a:r>
              <a:rPr sz="6400" b="0" spc="-150">
                <a:solidFill>
                  <a:srgbClr val="F2F5FA"/>
                </a:solidFill>
                <a:latin typeface="Segoe UI Semibold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5270500"/>
            <a:ext cx="8293100" cy="377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70"/>
              </a:lnSpc>
            </a:pPr>
            <a:r>
              <a:rPr sz="2200" b="0">
                <a:solidFill>
                  <a:srgbClr val="C9D3E8"/>
                </a:solidFill>
                <a:latin typeface="Segoe UI"/>
              </a:rPr>
              <a:t>Writing got cheap. Reading did not.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651000"/>
            <a:ext cx="9944100" cy="1373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408"/>
              </a:lnSpc>
            </a:pPr>
            <a:r>
              <a:rPr sz="5200" b="0" spc="-100">
                <a:solidFill>
                  <a:srgbClr val="F2F5FA"/>
                </a:solidFill>
                <a:latin typeface="Segoe UI Semibold"/>
              </a:rPr>
              <a:t>A change you did not type is a change you have to </a:t>
            </a:r>
            <a:r>
              <a:rPr sz="5200" b="0" spc="-100">
                <a:solidFill>
                  <a:srgbClr val="3DD9FF"/>
                </a:solidFill>
                <a:latin typeface="Segoe UI Semibold"/>
              </a:rPr>
              <a:t>read.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3378200"/>
            <a:ext cx="8674100" cy="3599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100" b="0">
                <a:solidFill>
                  <a:srgbClr val="C9D3E8"/>
                </a:solidFill>
                <a:latin typeface="Segoe UI"/>
              </a:rPr>
              <a:t>And an agent produces them faster than anyone can read.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5067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</a:pPr>
            <a:r>
              <a:rPr sz="3800" b="0" spc="-75">
                <a:solidFill>
                  <a:srgbClr val="F2F5FA"/>
                </a:solidFill>
                <a:latin typeface="Segoe UI Semibold"/>
              </a:rPr>
              <a:t>Two moments to find out a change is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2209800"/>
            <a:ext cx="4597400" cy="425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2500" b="0" spc="-50">
                <a:solidFill>
                  <a:srgbClr val="FFB84D"/>
                </a:solidFill>
                <a:latin typeface="Segoe UI Semibold"/>
              </a:rPr>
              <a:t>After it goes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2838450"/>
            <a:ext cx="4597400" cy="44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A reviewer, a bot or a user finds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3288010"/>
            <a:ext cx="4597400" cy="44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You fix it in another 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3737570"/>
            <a:ext cx="4597400" cy="44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The next change gets the same comment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900" y="2209800"/>
            <a:ext cx="4597400" cy="425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2500" b="0" spc="-50">
                <a:solidFill>
                  <a:srgbClr val="3DD9FF"/>
                </a:solidFill>
                <a:latin typeface="Segoe UI Semibold"/>
              </a:rPr>
              <a:t>Before it goes 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900" y="2838450"/>
            <a:ext cx="4597400" cy="44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The same checks run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900" y="3288010"/>
            <a:ext cx="4597400" cy="44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It is fixed in the same 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900" y="3737570"/>
            <a:ext cx="4597400" cy="44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The class of bug gets a check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3873500"/>
            <a:ext cx="7658100" cy="8818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72"/>
              </a:lnSpc>
            </a:pPr>
            <a:r>
              <a:rPr sz="3100" b="0" spc="-50">
                <a:solidFill>
                  <a:srgbClr val="F2F5FA"/>
                </a:solidFill>
                <a:latin typeface="Segoe UI Semibold"/>
              </a:rPr>
              <a:t>outside review comments on three pull requests were </a:t>
            </a:r>
            <a:r>
              <a:rPr sz="3100" b="0" spc="-50">
                <a:solidFill>
                  <a:srgbClr val="3DD9FF"/>
                </a:solidFill>
                <a:latin typeface="Segoe UI Semibold"/>
              </a:rPr>
              <a:t>right.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05800" y="1079500"/>
            <a:ext cx="3213100" cy="1121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FFB84D"/>
                </a:solidFill>
                <a:latin typeface="Segoe UI Semibold"/>
              </a:rPr>
              <a:t>All eight were fixed. None of them changed the next review.</a:t>
            </a:r>
            <a:r>
              <a:rPr sz="1600" b="0">
                <a:solidFill>
                  <a:srgbClr val="C9D3E8"/>
                </a:solidFill>
                <a:latin typeface="Segoe UI"/>
              </a:rPr>
              <a:t> The fixes disappeared into the pull requests.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Our own: a real round on one of our projects, from the review-loop README. Copilot comments on three pull requests.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651000"/>
            <a:ext cx="9944100" cy="1215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784"/>
              </a:lnSpc>
            </a:pPr>
            <a:r>
              <a:rPr sz="4600" b="0" spc="-100">
                <a:solidFill>
                  <a:srgbClr val="F2F5FA"/>
                </a:solidFill>
                <a:latin typeface="Segoe UI Semibold"/>
              </a:rPr>
              <a:t>Fixing a comment fixes </a:t>
            </a:r>
            <a:r>
              <a:rPr sz="4600" b="0" spc="-100">
                <a:solidFill>
                  <a:srgbClr val="3DD9FF"/>
                </a:solidFill>
                <a:latin typeface="Segoe UI Semibold"/>
              </a:rPr>
              <a:t>one line.</a:t>
            </a:r>
            <a:r>
              <a:rPr sz="4600" b="0" spc="-100">
                <a:solidFill>
                  <a:srgbClr val="F2F5FA"/>
                </a:solidFill>
                <a:latin typeface="Segoe UI Semibold"/>
              </a:rPr>
              <a:t> The next change gets the same comment.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3829050"/>
            <a:ext cx="8674100" cy="3599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100" b="0">
                <a:solidFill>
                  <a:srgbClr val="C9D3E8"/>
                </a:solidFill>
                <a:latin typeface="Segoe UI"/>
              </a:rPr>
              <a:t>Nothing in the process remembers.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651000"/>
            <a:ext cx="9944100" cy="1215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784"/>
              </a:lnSpc>
            </a:pPr>
            <a:r>
              <a:rPr sz="4600" b="0" spc="-100">
                <a:solidFill>
                  <a:srgbClr val="F2F5FA"/>
                </a:solidFill>
                <a:latin typeface="Segoe UI Semibold"/>
              </a:rPr>
              <a:t>Most of our time goes on </a:t>
            </a:r>
            <a:r>
              <a:rPr sz="4600" b="0" spc="-100">
                <a:solidFill>
                  <a:srgbClr val="3DD9FF"/>
                </a:solidFill>
                <a:latin typeface="Segoe UI Semibold"/>
              </a:rPr>
              <a:t>reading,</a:t>
            </a:r>
            <a:r>
              <a:rPr sz="4600" b="0" spc="-100">
                <a:solidFill>
                  <a:srgbClr val="F2F5FA"/>
                </a:solidFill>
                <a:latin typeface="Segoe UI Semibold"/>
              </a:rPr>
              <a:t> and how we read is almost never discussed.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3829050"/>
            <a:ext cx="8674100" cy="3599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100" b="0">
                <a:solidFill>
                  <a:srgbClr val="C9D3E8"/>
                </a:solidFill>
                <a:latin typeface="Segoe UI"/>
              </a:rPr>
              <a:t>So it is never improved.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Tudor Girba and Simon Wardley, "Rewilding software engineering", chapter 1, 2025.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5067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</a:pPr>
            <a:r>
              <a:rPr sz="3800" b="0" spc="-75">
                <a:solidFill>
                  <a:srgbClr val="F2F5FA"/>
                </a:solidFill>
                <a:latin typeface="Segoe UI Semibold"/>
              </a:rPr>
              <a:t>The post this talk keeps </a:t>
            </a:r>
            <a:r>
              <a:rPr sz="3800" b="0" spc="-75">
                <a:solidFill>
                  <a:srgbClr val="3DD9FF"/>
                </a:solidFill>
                <a:latin typeface="Segoe UI Semibold"/>
              </a:rPr>
              <a:t>coming back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Osmani, Lunt and Wang, claude.dev, 15 October 2026.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651000"/>
            <a:ext cx="9944100" cy="1373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408"/>
              </a:lnSpc>
            </a:pPr>
            <a:r>
              <a:rPr sz="5200" b="0" spc="-100">
                <a:solidFill>
                  <a:srgbClr val="F2F5FA"/>
                </a:solidFill>
                <a:latin typeface="Segoe UI Semibold"/>
              </a:rPr>
              <a:t>The Claude Code team reviews its agent-written code in </a:t>
            </a:r>
            <a:r>
              <a:rPr sz="5200" b="0" spc="-100">
                <a:solidFill>
                  <a:srgbClr val="3DD9FF"/>
                </a:solidFill>
                <a:latin typeface="Segoe UI Semibold"/>
              </a:rPr>
              <a:t>layers.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4064000"/>
            <a:ext cx="8674100" cy="1079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100" b="0">
                <a:solidFill>
                  <a:srgbClr val="C9D3E8"/>
                </a:solidFill>
                <a:latin typeface="Segoe UI"/>
              </a:rPr>
              <a:t>Verify before the pull request. An AI review on every pull request, its findings checked by other agents. A file that says what matters. Past incidents as the test 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Osmani, Lunt and Wang, "How the Claude Code team does code review", claude.dev, 15 October 2026.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651000"/>
            <a:ext cx="9944100" cy="182254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784"/>
              </a:lnSpc>
            </a:pPr>
            <a:r>
              <a:rPr sz="4600" b="0" spc="-100">
                <a:solidFill>
                  <a:srgbClr val="F2F5FA"/>
                </a:solidFill>
                <a:latin typeface="Segoe UI Semibold"/>
              </a:rPr>
              <a:t>Several of these points are </a:t>
            </a:r>
            <a:r>
              <a:rPr sz="4600" b="0" spc="-100">
                <a:solidFill>
                  <a:srgbClr val="3DD9FF"/>
                </a:solidFill>
                <a:latin typeface="Segoe UI Semibold"/>
              </a:rPr>
              <a:t>also our own conclusions,</a:t>
            </a:r>
            <a:r>
              <a:rPr sz="4600" b="0" spc="-100">
                <a:solidFill>
                  <a:srgbClr val="F2F5FA"/>
                </a:solidFill>
                <a:latin typeface="Segoe UI Semibold"/>
              </a:rPr>
              <a:t> from working on our own products.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3829050"/>
            <a:ext cx="8674100" cy="1079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100" b="0">
                <a:solidFill>
                  <a:srgbClr val="C9D3E8"/>
                </a:solidFill>
                <a:latin typeface="Segoe UI"/>
              </a:rPr>
              <a:t>We hit the same problems: comments that taught the next review nothing, one reader finding only part of what outside reviewers found, three readers costing three times one. review-loop is what we built.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The numbers shown for review-loop are our own measurements, small and early.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651000"/>
            <a:ext cx="9944100" cy="1373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408"/>
              </a:lnSpc>
            </a:pPr>
            <a:r>
              <a:rPr sz="5200" b="0" spc="-100">
                <a:solidFill>
                  <a:srgbClr val="F2F5FA"/>
                </a:solidFill>
                <a:latin typeface="Segoe UI Semibold"/>
              </a:rPr>
              <a:t>Not a step at the end. </a:t>
            </a:r>
            <a:r>
              <a:rPr sz="5200" b="0" spc="-100">
                <a:solidFill>
                  <a:srgbClr val="3DD9FF"/>
                </a:solidFill>
                <a:latin typeface="Segoe UI Semibold"/>
              </a:rPr>
              <a:t>A loop</a:t>
            </a:r>
            <a:r>
              <a:rPr sz="5200" b="0" spc="-100">
                <a:solidFill>
                  <a:srgbClr val="F2F5FA"/>
                </a:solidFill>
                <a:latin typeface="Segoe UI Semibold"/>
              </a:rPr>
              <a:t> that gets better each round.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3378200"/>
            <a:ext cx="8674100" cy="719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100" b="0">
                <a:solidFill>
                  <a:srgbClr val="C9D3E8"/>
                </a:solidFill>
                <a:latin typeface="Segoe UI"/>
              </a:rPr>
              <a:t>Check it yourself. Let others check it. Turn what they find into a check that runs.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3810000"/>
            <a:ext cx="9563100" cy="8289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528"/>
              </a:lnSpc>
            </a:pPr>
            <a:r>
              <a:rPr sz="6400" b="0" spc="-150">
                <a:solidFill>
                  <a:srgbClr val="F2F5FA"/>
                </a:solidFill>
                <a:latin typeface="Segoe UI Semibold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5270500"/>
            <a:ext cx="8293100" cy="754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70"/>
              </a:lnSpc>
            </a:pPr>
            <a:r>
              <a:rPr sz="2200" b="0">
                <a:solidFill>
                  <a:srgbClr val="C9D3E8"/>
                </a:solidFill>
                <a:latin typeface="Segoe UI"/>
              </a:rPr>
              <a:t>What one team found when agents wrote most of the code, and how review-loop answers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3873500"/>
            <a:ext cx="7658100" cy="13227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72"/>
              </a:lnSpc>
            </a:pPr>
            <a:r>
              <a:rPr sz="3100" b="0" spc="-50">
                <a:solidFill>
                  <a:srgbClr val="F2F5FA"/>
                </a:solidFill>
                <a:latin typeface="Segoe UI Semibold"/>
              </a:rPr>
              <a:t>changes </a:t>
            </a:r>
            <a:r>
              <a:rPr sz="3100" b="0" spc="-50">
                <a:solidFill>
                  <a:srgbClr val="3DD9FF"/>
                </a:solidFill>
                <a:latin typeface="Segoe UI Semibold"/>
              </a:rPr>
              <a:t>a day</a:t>
            </a:r>
            <a:r>
              <a:rPr sz="3100" b="0" spc="-50">
                <a:solidFill>
                  <a:srgbClr val="F2F5FA"/>
                </a:solidFill>
                <a:latin typeface="Segoe UI Semibold"/>
              </a:rPr>
              <a:t> landing in Anthropic's monorepo in September, up from about 2,500 in May.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05800" y="1079500"/>
            <a:ext cx="3213100" cy="1401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FFB84D"/>
                </a:solidFill>
                <a:latin typeface="Segoe UI Semibold"/>
              </a:rPr>
              <a:t>Claude writes about 90% of Claude Code's own code.</a:t>
            </a:r>
            <a:r>
              <a:rPr sz="1600" b="0">
                <a:solidFill>
                  <a:srgbClr val="C9D3E8"/>
                </a:solidFill>
                <a:latin typeface="Segoe UI"/>
              </a:rPr>
              <a:t> Claude Code has its own repository, and the post says it feels the same pressure.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Osmani, Lunt and Wang, "How the Claude Code team does code review", claude.dev, 15 October 2026. The 30,000 is for the monorepo, not for Claude Code's repository.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651000"/>
            <a:ext cx="9944100" cy="182254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784"/>
              </a:lnSpc>
            </a:pPr>
            <a:r>
              <a:rPr sz="4600" b="0" spc="-100">
                <a:solidFill>
                  <a:srgbClr val="F2F5FA"/>
                </a:solidFill>
                <a:latin typeface="Segoe UI Semibold"/>
              </a:rPr>
              <a:t>When you ship this fast, line-by-line review is </a:t>
            </a:r>
            <a:r>
              <a:rPr sz="4600" b="0" spc="-100">
                <a:solidFill>
                  <a:srgbClr val="3DD9FF"/>
                </a:solidFill>
                <a:latin typeface="Segoe UI Semibold"/>
              </a:rPr>
              <a:t>incredibly difficult, if not impossible.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3829050"/>
            <a:ext cx="8674100" cy="719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100" b="0">
                <a:solidFill>
                  <a:srgbClr val="C9D3E8"/>
                </a:solidFill>
                <a:latin typeface="Segoe UI"/>
              </a:rPr>
              <a:t>They did not drop review. They moved most of the reading to machines and kept people for what machines cannot decide.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Osmani, Lunt and Wang, "How the Claude Code team does code review", 15 October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651000"/>
            <a:ext cx="9944100" cy="20603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408"/>
              </a:lnSpc>
            </a:pPr>
            <a:r>
              <a:rPr sz="5200" b="0" spc="-100">
                <a:solidFill>
                  <a:srgbClr val="F2F5FA"/>
                </a:solidFill>
                <a:latin typeface="Segoe UI Semibold"/>
              </a:rPr>
              <a:t>The goal: </a:t>
            </a:r>
            <a:r>
              <a:rPr sz="5200" b="0" spc="-100">
                <a:solidFill>
                  <a:srgbClr val="3DD9FF"/>
                </a:solidFill>
                <a:latin typeface="Segoe UI Semibold"/>
              </a:rPr>
              <a:t>less human time per change,</a:t>
            </a:r>
            <a:r>
              <a:rPr sz="5200" b="0" spc="-100">
                <a:solidFill>
                  <a:srgbClr val="F2F5FA"/>
                </a:solidFill>
                <a:latin typeface="Segoe UI Semibold"/>
              </a:rPr>
              <a:t> and no more reverts than before.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4064000"/>
            <a:ext cx="8674100" cy="1079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100" b="0">
                <a:solidFill>
                  <a:srgbClr val="C9D3E8"/>
                </a:solidFill>
                <a:latin typeface="Segoe UI"/>
              </a:rPr>
              <a:t>Reverts and incidents are the guardrail. Human approvals per pull request, human comments and the wait for a person are what they push down.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Osmani, Lunt and Wang, "How the Claude Code team does code review", 15 October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3873500"/>
            <a:ext cx="7658100" cy="13227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72"/>
              </a:lnSpc>
            </a:pPr>
            <a:r>
              <a:rPr sz="3100" b="0" spc="-50">
                <a:solidFill>
                  <a:srgbClr val="F2F5FA"/>
                </a:solidFill>
                <a:latin typeface="Segoe UI Semibold"/>
              </a:rPr>
              <a:t>drop in the share of merged pull requests that had to be </a:t>
            </a:r>
            <a:r>
              <a:rPr sz="3100" b="0" spc="-50">
                <a:solidFill>
                  <a:srgbClr val="3DD9FF"/>
                </a:solidFill>
                <a:latin typeface="Segoe UI Semibold"/>
              </a:rPr>
              <a:t>reverted,</a:t>
            </a:r>
            <a:r>
              <a:rPr sz="3100" b="0" spc="-50">
                <a:solidFill>
                  <a:srgbClr val="F2F5FA"/>
                </a:solidFill>
                <a:latin typeface="Segoe UI Semibold"/>
              </a:rPr>
              <a:t> while the number merged more than doubled.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05800" y="1079500"/>
            <a:ext cx="3213100" cy="1121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FFB84D"/>
                </a:solidFill>
                <a:latin typeface="Segoe UI Semibold"/>
              </a:rPr>
              <a:t>Claude Code repositories, June to September.</a:t>
            </a:r>
            <a:r>
              <a:rPr sz="1600" b="0">
                <a:solidFill>
                  <a:srgbClr val="C9D3E8"/>
                </a:solidFill>
                <a:latin typeface="Segoe UI"/>
              </a:rPr>
              <a:t> The post gives the direction and the share, not the counts.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Osmani, Lunt and Wang, "How the Claude Code team does code review", 15 October 2026.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3873500"/>
            <a:ext cx="7658100" cy="8818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72"/>
              </a:lnSpc>
            </a:pPr>
            <a:r>
              <a:rPr sz="3100" b="0" spc="-50">
                <a:solidFill>
                  <a:srgbClr val="F2F5FA"/>
                </a:solidFill>
                <a:latin typeface="Segoe UI Semibold"/>
              </a:rPr>
              <a:t>of internal pull requests got </a:t>
            </a:r>
            <a:r>
              <a:rPr sz="3100" b="0" spc="-50">
                <a:solidFill>
                  <a:srgbClr val="3DD9FF"/>
                </a:solidFill>
                <a:latin typeface="Segoe UI Semibold"/>
              </a:rPr>
              <a:t>substantive review comments,</a:t>
            </a:r>
            <a:r>
              <a:rPr sz="3100" b="0" spc="-50">
                <a:solidFill>
                  <a:srgbClr val="F2F5FA"/>
                </a:solidFill>
                <a:latin typeface="Segoe UI Semibold"/>
              </a:rPr>
              <a:t> up from 16%.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05800" y="1079500"/>
            <a:ext cx="3213100" cy="1121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FFB84D"/>
                </a:solidFill>
                <a:latin typeface="Segoe UI Semibold"/>
              </a:rPr>
              <a:t>At the launch of the research preview of their AI review.</a:t>
            </a:r>
            <a:r>
              <a:rPr sz="1600" b="0">
                <a:solidFill>
                  <a:srgbClr val="C9D3E8"/>
                </a:solidFill>
                <a:latin typeface="Segoe UI"/>
              </a:rPr>
              <a:t> The post does not say whether 54% is the current figure.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Osmani, Lunt and Wang, "How the Claude Code team does code review", 15 October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5067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</a:pPr>
            <a:r>
              <a:rPr sz="3800" b="0" spc="-75">
                <a:solidFill>
                  <a:srgbClr val="F2F5FA"/>
                </a:solidFill>
                <a:latin typeface="Segoe UI Semibold"/>
              </a:rPr>
              <a:t>What the post does, and </a:t>
            </a:r>
            <a:r>
              <a:rPr sz="3800" b="0" spc="-75">
                <a:solidFill>
                  <a:srgbClr val="3DD9FF"/>
                </a:solidFill>
                <a:latin typeface="Segoe UI Semibold"/>
              </a:rPr>
              <a:t>where it lives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2395835"/>
            <a:ext cx="4102100" cy="9072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F2F5FA"/>
                </a:solidFill>
                <a:latin typeface="Segoe UI Semibold"/>
              </a:rPr>
              <a:t>Verify before the pull request, with a fresh reader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75200" y="2395835"/>
            <a:ext cx="6743700" cy="9072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530" b="0">
                <a:solidFill>
                  <a:srgbClr val="A8F0C9"/>
                </a:solidFill>
                <a:latin typeface="Consolas"/>
              </a:rPr>
              <a:t>/pre-pr-review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200" y="3303091"/>
            <a:ext cx="4102100" cy="904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F2F5FA"/>
                </a:solidFill>
                <a:latin typeface="Segoe UI Semibold"/>
              </a:rPr>
              <a:t>A REVIEW.md written by the code owners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75200" y="3303091"/>
            <a:ext cx="6743700" cy="904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530" b="0">
                <a:solidFill>
                  <a:srgbClr val="A8F0C9"/>
                </a:solidFill>
                <a:latin typeface="Consolas"/>
              </a:rPr>
              <a:t>REVIEW.md</a:t>
            </a:r>
            <a:r>
              <a:rPr sz="1700" b="0">
                <a:solidFill>
                  <a:srgbClr val="C9D3E8"/>
                </a:solidFill>
                <a:latin typeface="Segoe UI"/>
              </a:rPr>
              <a:t>, created by </a:t>
            </a:r>
            <a:r>
              <a:rPr sz="1530" b="0">
                <a:solidFill>
                  <a:srgbClr val="A8F0C9"/>
                </a:solidFill>
                <a:latin typeface="Consolas"/>
              </a:rPr>
              <a:t>review-loop init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4207172"/>
            <a:ext cx="4102100" cy="904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F2F5FA"/>
                </a:solidFill>
                <a:latin typeface="Segoe UI Semibold"/>
              </a:rPr>
              <a:t>Parallel reviewers, a vote, findings tagged Important, Nit or Pre-existing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75200" y="4207172"/>
            <a:ext cx="6743700" cy="904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530" b="0">
                <a:solidFill>
                  <a:srgbClr val="A8F0C9"/>
                </a:solidFill>
                <a:latin typeface="Consolas"/>
              </a:rPr>
              <a:t>multipass</a:t>
            </a:r>
            <a:r>
              <a:rPr sz="1700" b="0">
                <a:solidFill>
                  <a:srgbClr val="C9D3E8"/>
                </a:solidFill>
                <a:latin typeface="Segoe UI"/>
              </a:rPr>
              <a:t>: three readers, a vote, the same labels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200" y="5111253"/>
            <a:ext cx="4102100" cy="904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F2F5FA"/>
                </a:solidFill>
                <a:latin typeface="Segoe UI Semibold"/>
              </a:rPr>
              <a:t>Every finding fixed, or resolved with a reason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5200" y="5111253"/>
            <a:ext cx="6743700" cy="904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530" b="0">
                <a:solidFill>
                  <a:srgbClr val="A8F0C9"/>
                </a:solidFill>
                <a:latin typeface="Consolas"/>
              </a:rPr>
              <a:t>review-loop gate</a:t>
            </a:r>
            <a:r>
              <a:rPr sz="1700" b="0">
                <a:solidFill>
                  <a:srgbClr val="C9D3E8"/>
                </a:solidFill>
                <a:latin typeface="Segoe UI"/>
              </a:rPr>
              <a:t>: a report with Open: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Practices from Osmani, Lunt and Wang, 15 October 2026. The right column is review-loop's own README.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586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20"/>
              </a:lnSpc>
            </a:pPr>
            <a:r>
              <a:rPr sz="4400" b="0" spc="-75">
                <a:solidFill>
                  <a:srgbClr val="F2F5FA"/>
                </a:solidFill>
                <a:latin typeface="Segoe UI Semibold"/>
              </a:rPr>
              <a:t>...and </a:t>
            </a:r>
            <a:r>
              <a:rPr sz="4400" b="0" spc="-75">
                <a:solidFill>
                  <a:srgbClr val="3DD9FF"/>
                </a:solidFill>
                <a:latin typeface="Segoe UI Semibold"/>
              </a:rPr>
              <a:t>the rest</a:t>
            </a:r>
            <a:r>
              <a:rPr sz="4400" b="0" spc="-75">
                <a:solidFill>
                  <a:srgbClr val="F2F5FA"/>
                </a:solidFill>
                <a:latin typeface="Segoe UI Semibold"/>
              </a:rPr>
              <a:t> of the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2395835"/>
            <a:ext cx="4102100" cy="6430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F2F5FA"/>
                </a:solidFill>
                <a:latin typeface="Segoe UI Semibold"/>
              </a:rPr>
              <a:t>Fix recurring findings at the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75200" y="2395835"/>
            <a:ext cx="6743700" cy="6430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C9D3E8"/>
                </a:solidFill>
                <a:latin typeface="Segoe UI"/>
              </a:rPr>
              <a:t>Sweeps in </a:t>
            </a:r>
            <a:r>
              <a:rPr sz="1530" b="0">
                <a:solidFill>
                  <a:srgbClr val="A8F0C9"/>
                </a:solidFill>
                <a:latin typeface="Consolas"/>
              </a:rPr>
              <a:t>REVIEW.sweeps</a:t>
            </a:r>
            <a:r>
              <a:rPr sz="1700" b="0">
                <a:solidFill>
                  <a:srgbClr val="C9D3E8"/>
                </a:solidFill>
                <a:latin typeface="Segoe UI"/>
              </a:rPr>
              <a:t>, and </a:t>
            </a:r>
            <a:r>
              <a:rPr sz="1530" b="0">
                <a:solidFill>
                  <a:srgbClr val="A8F0C9"/>
                </a:solidFill>
                <a:latin typeface="Consolas"/>
              </a:rPr>
              <a:t>/retro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200" y="3038871"/>
            <a:ext cx="4102100" cy="6234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F2F5FA"/>
                </a:solidFill>
                <a:latin typeface="Segoe UI Semibold"/>
              </a:rPr>
              <a:t>Review has to converge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75200" y="3038871"/>
            <a:ext cx="6743700" cy="6234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C9D3E8"/>
                </a:solidFill>
                <a:latin typeface="Segoe UI"/>
              </a:rPr>
              <a:t>Three cycles, only the new diff, fix the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3662362"/>
            <a:ext cx="4102100" cy="904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F2F5FA"/>
                </a:solidFill>
                <a:latin typeface="Segoe UI Semibold"/>
              </a:rPr>
              <a:t>Past incidents as the reviewer's test set, noise measured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75200" y="3662362"/>
            <a:ext cx="6743700" cy="904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530" b="0">
                <a:solidFill>
                  <a:srgbClr val="A8F0C9"/>
                </a:solidFill>
                <a:latin typeface="Consolas"/>
              </a:rPr>
              <a:t>/review-eval</a:t>
            </a:r>
            <a:r>
              <a:rPr sz="1700" b="0">
                <a:solidFill>
                  <a:srgbClr val="C9D3E8"/>
                </a:solidFill>
                <a:latin typeface="Segoe UI"/>
              </a:rPr>
              <a:t>: recall and noise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200" y="4566443"/>
            <a:ext cx="4102100" cy="904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F2F5FA"/>
                </a:solidFill>
                <a:latin typeface="Segoe UI Semibold"/>
              </a:rPr>
              <a:t>Merge queue, feature flags, gradual release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5200" y="4566443"/>
            <a:ext cx="6743700" cy="9040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C9D3E8"/>
                </a:solidFill>
                <a:latin typeface="Segoe UI"/>
              </a:rPr>
              <a:t>Not covered. Risk tiers: planned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Practices from Osmani, Lunt and Wang, 15 October 2026. The right column is review-loop's own README.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586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20"/>
              </a:lnSpc>
            </a:pPr>
            <a:r>
              <a:rPr sz="4400" b="0" spc="-75">
                <a:solidFill>
                  <a:srgbClr val="F2F5FA"/>
                </a:solidFill>
                <a:latin typeface="Segoe UI Semibold"/>
              </a:rPr>
              <a:t>Review has to </a:t>
            </a:r>
            <a:r>
              <a:rPr sz="4400" b="0" spc="-75">
                <a:solidFill>
                  <a:srgbClr val="3DD9FF"/>
                </a:solidFill>
                <a:latin typeface="Segoe UI Semibold"/>
              </a:rPr>
              <a:t>converge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2395835"/>
            <a:ext cx="4102100" cy="6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F2F5FA"/>
                </a:solidFill>
                <a:latin typeface="Segoe UI Semibold"/>
              </a:rPr>
              <a:t>Pass after one review-and-fix 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75200" y="2395835"/>
            <a:ext cx="6743700" cy="6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C9D3E8"/>
                </a:solidFill>
                <a:latin typeface="Segoe UI"/>
              </a:rPr>
              <a:t>65%, then 78%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200" y="3022500"/>
            <a:ext cx="4102100" cy="6234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F2F5FA"/>
                </a:solidFill>
                <a:latin typeface="Segoe UI Semibold"/>
              </a:rPr>
              <a:t>Need five or more rounds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75200" y="3022500"/>
            <a:ext cx="6743700" cy="6234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C9D3E8"/>
                </a:solidFill>
                <a:latin typeface="Segoe UI"/>
              </a:rPr>
              <a:t>8.9%, then 1.5%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3645991"/>
            <a:ext cx="4102100" cy="6234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F2F5FA"/>
                </a:solidFill>
                <a:latin typeface="Segoe UI Semibold"/>
              </a:rPr>
              <a:t>Mean number of reviews to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75200" y="3645991"/>
            <a:ext cx="6743700" cy="6234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C9D3E8"/>
                </a:solidFill>
                <a:latin typeface="Segoe UI"/>
              </a:rPr>
              <a:t>2.08, then 1.32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Osmani, Lunt and Wang, "How the Claude Code team does code review", 15 October 2026. Before and after the team's convergence work.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651000"/>
            <a:ext cx="9944100" cy="182254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784"/>
              </a:lnSpc>
            </a:pPr>
            <a:r>
              <a:rPr sz="4600" b="0" spc="-100">
                <a:solidFill>
                  <a:srgbClr val="F2F5FA"/>
                </a:solidFill>
                <a:latin typeface="Segoe UI Semibold"/>
              </a:rPr>
              <a:t>One pull request went through </a:t>
            </a:r>
            <a:r>
              <a:rPr sz="4600" b="0" spc="-100">
                <a:solidFill>
                  <a:srgbClr val="3DD9FF"/>
                </a:solidFill>
                <a:latin typeface="Segoe UI Semibold"/>
              </a:rPr>
              <a:t>more than fifty rounds</a:t>
            </a:r>
            <a:r>
              <a:rPr sz="4600" b="0" spc="-100">
                <a:solidFill>
                  <a:srgbClr val="F2F5FA"/>
                </a:solidFill>
                <a:latin typeface="Segoe UI Semibold"/>
              </a:rPr>
              <a:t> of review and fixes overnight.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3829050"/>
            <a:ext cx="8674100" cy="1079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100" b="0">
                <a:solidFill>
                  <a:srgbClr val="C9D3E8"/>
                </a:solidFill>
                <a:latin typeface="Segoe UI"/>
              </a:rPr>
              <a:t>A person dismisses a nit in seconds. An agent makes another commit and starts another round. review-loop stops at three cycles, reads only the new diff, and fixes the class of a bug, not the 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Osmani, Lunt and Wang, "How the Claude Code team does code review", 15 October 2026.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3873500"/>
            <a:ext cx="7658100" cy="8818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72"/>
              </a:lnSpc>
            </a:pPr>
            <a:r>
              <a:rPr sz="3100" b="0" spc="-50">
                <a:solidFill>
                  <a:srgbClr val="F2F5FA"/>
                </a:solidFill>
                <a:latin typeface="Segoe UI Semibold"/>
              </a:rPr>
              <a:t>of what the reviewer kept flagging was </a:t>
            </a:r>
            <a:r>
              <a:rPr sz="3100" b="0" spc="-50">
                <a:solidFill>
                  <a:srgbClr val="3DD9FF"/>
                </a:solidFill>
                <a:latin typeface="Segoe UI Semibold"/>
              </a:rPr>
              <a:t>old code,</a:t>
            </a:r>
            <a:r>
              <a:rPr sz="3100" b="0" spc="-50">
                <a:solidFill>
                  <a:srgbClr val="F2F5FA"/>
                </a:solidFill>
                <a:latin typeface="Segoe UI Semibold"/>
              </a:rPr>
              <a:t> there since the first pass.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05800" y="1079500"/>
            <a:ext cx="3213100" cy="1401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FFB84D"/>
                </a:solidFill>
                <a:latin typeface="Segoe UI Semibold"/>
              </a:rPr>
              <a:t>review-loop marks it Pre-existing</a:t>
            </a:r>
            <a:r>
              <a:rPr sz="1600" b="0">
                <a:solidFill>
                  <a:srgbClr val="C9D3E8"/>
                </a:solidFill>
                <a:latin typeface="Segoe UI"/>
              </a:rPr>
              <a:t> and keeps it out of the author's count, so a round does not grow on code the change never touched.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Osmani, Lunt and Wang, "How the Claude Code team does code review", 15 October 2026. By git blame, on the pull requests the team studied.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3810000"/>
            <a:ext cx="9563100" cy="8289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528"/>
              </a:lnSpc>
            </a:pPr>
            <a:r>
              <a:rPr sz="6400" b="0" spc="-150">
                <a:solidFill>
                  <a:srgbClr val="F2F5FA"/>
                </a:solidFill>
                <a:latin typeface="Segoe UI Semibold"/>
              </a:rPr>
              <a:t>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5270500"/>
            <a:ext cx="8293100" cy="377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70"/>
              </a:lnSpc>
            </a:pPr>
            <a:r>
              <a:rPr sz="2200" b="0">
                <a:solidFill>
                  <a:srgbClr val="C9D3E8"/>
                </a:solidFill>
                <a:latin typeface="Segoe UI"/>
              </a:rPr>
              <a:t>What one review is made of, and what it costs.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586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20"/>
              </a:lnSpc>
            </a:pPr>
            <a:r>
              <a:rPr sz="4400" b="0" spc="-75">
                <a:solidFill>
                  <a:srgbClr val="F2F5FA"/>
                </a:solidFill>
                <a:latin typeface="Segoe UI Semibold"/>
              </a:rPr>
              <a:t>Five parts, one </a:t>
            </a:r>
            <a:r>
              <a:rPr sz="4400" b="0" spc="-75">
                <a:solidFill>
                  <a:srgbClr val="3DD9FF"/>
                </a:solidFill>
                <a:latin typeface="Segoe UI Semibold"/>
              </a:rPr>
              <a:t>loop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651000"/>
            <a:ext cx="9944100" cy="1373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408"/>
              </a:lnSpc>
            </a:pPr>
            <a:r>
              <a:rPr sz="5200" b="0" spc="-100">
                <a:solidFill>
                  <a:srgbClr val="F2F5FA"/>
                </a:solidFill>
                <a:latin typeface="Segoe UI Semibold"/>
              </a:rPr>
              <a:t>A good reviewer reads </a:t>
            </a:r>
            <a:r>
              <a:rPr sz="5200" b="0" spc="-100">
                <a:solidFill>
                  <a:srgbClr val="3DD9FF"/>
                </a:solidFill>
                <a:latin typeface="Segoe UI Semibold"/>
              </a:rPr>
              <a:t>whole functions,</a:t>
            </a:r>
            <a:r>
              <a:rPr sz="5200" b="0" spc="-100">
                <a:solidFill>
                  <a:srgbClr val="F2F5FA"/>
                </a:solidFill>
                <a:latin typeface="Segoe UI Semibold"/>
              </a:rPr>
              <a:t> not diff lines.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3378200"/>
            <a:ext cx="8674100" cy="719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100" b="0">
                <a:solidFill>
                  <a:srgbClr val="C9D3E8"/>
                </a:solidFill>
                <a:latin typeface="Segoe UI"/>
              </a:rPr>
              <a:t>The callers and siblings needed to answer a question. The report says what was read in full and what was only skimmed.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5067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</a:pPr>
            <a:r>
              <a:rPr sz="3800" b="0" spc="-75">
                <a:solidFill>
                  <a:srgbClr val="F2F5FA"/>
                </a:solidFill>
                <a:latin typeface="Segoe UI Semibold"/>
              </a:rPr>
              <a:t>Nineteen </a:t>
            </a:r>
            <a:r>
              <a:rPr sz="3800" b="0" spc="-75">
                <a:solidFill>
                  <a:srgbClr val="3DD9FF"/>
                </a:solidFill>
                <a:latin typeface="Segoe UI Semibold"/>
              </a:rPr>
              <a:t>lenses.</a:t>
            </a:r>
            <a:r>
              <a:rPr sz="3800" b="0" spc="-75">
                <a:solidFill>
                  <a:srgbClr val="F2F5FA"/>
                </a:solidFill>
                <a:latin typeface="Segoe UI Semibold"/>
              </a:rPr>
              <a:t> One question each.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2552700"/>
            <a:ext cx="20701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500" b="0" spc="-50">
                <a:solidFill>
                  <a:srgbClr val="F2F5FA"/>
                </a:solidFill>
                <a:latin typeface="Segoe UI Semibold"/>
              </a:rPr>
              <a:t>Untrusted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3390900"/>
            <a:ext cx="2070100" cy="841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B9C5DD"/>
                </a:solidFill>
                <a:latin typeface="Segoe UI"/>
              </a:rPr>
              <a:t>Missing, null, the wrong type, huge, negative, NaN?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8400" y="2552700"/>
            <a:ext cx="20701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500" b="0" spc="-50">
                <a:solidFill>
                  <a:srgbClr val="F2F5FA"/>
                </a:solidFill>
                <a:latin typeface="Segoe UI Semibold"/>
              </a:rPr>
              <a:t>Error paths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8400" y="3048000"/>
            <a:ext cx="2070100" cy="5607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B9C5DD"/>
                </a:solidFill>
                <a:latin typeface="Segoe UI"/>
              </a:rPr>
              <a:t>Can it report success after the write failed?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1600" y="2552700"/>
            <a:ext cx="20701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500" b="0" spc="-50">
                <a:solidFill>
                  <a:srgbClr val="F2F5FA"/>
                </a:solidFill>
                <a:latin typeface="Segoe UI Semibold"/>
              </a:rPr>
              <a:t>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1600" y="3048000"/>
            <a:ext cx="2070100" cy="5607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B9C5DD"/>
                </a:solidFill>
                <a:latin typeface="Segoe UI"/>
              </a:rPr>
              <a:t>Every writer of a flag, and every reset of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94800" y="2552700"/>
            <a:ext cx="20701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500" b="0" spc="-50">
                <a:solidFill>
                  <a:srgbClr val="F2F5FA"/>
                </a:solidFill>
                <a:latin typeface="Segoe UI Semibold"/>
              </a:rPr>
              <a:t>Claims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94800" y="3048000"/>
            <a:ext cx="2070100" cy="841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B9C5DD"/>
                </a:solidFill>
                <a:latin typeface="Segoe UI"/>
              </a:rPr>
              <a:t>A comment says "never". Is that true for every caller?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skills/pre-pr-review/SKILL.md, section 3. Others: limits, cost, routing, platform, tests, concurrency, UI, dead code, other doors to the same resource.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4400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65"/>
              </a:lnSpc>
            </a:pPr>
            <a:r>
              <a:rPr sz="3300" b="0" spc="-75">
                <a:solidFill>
                  <a:srgbClr val="F2F5FA"/>
                </a:solidFill>
                <a:latin typeface="Segoe UI Semibold"/>
              </a:rPr>
              <a:t>A small change, three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5854700"/>
            <a:ext cx="108077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9"/>
              </a:lnSpc>
            </a:pPr>
            <a:r>
              <a:rPr sz="1700" b="0">
                <a:solidFill>
                  <a:srgbClr val="C9D3E8"/>
                </a:solidFill>
                <a:latin typeface="Segoe UI"/>
              </a:rPr>
              <a:t>Twelve lines. Read it through the lenses and ask, for each line, what input breaks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A small example change made for this talk.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4400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65"/>
              </a:lnSpc>
            </a:pPr>
            <a:r>
              <a:rPr sz="3300" b="0" spc="-75">
                <a:solidFill>
                  <a:srgbClr val="F2F5FA"/>
                </a:solidFill>
                <a:latin typeface="Segoe UI Semibold"/>
              </a:rPr>
              <a:t>Verify: </a:t>
            </a:r>
            <a:r>
              <a:rPr sz="3300" b="0" spc="-75">
                <a:solidFill>
                  <a:srgbClr val="3DD9FF"/>
                </a:solidFill>
                <a:latin typeface="Segoe UI Semibold"/>
              </a:rPr>
              <a:t>write the failure,</a:t>
            </a:r>
            <a:r>
              <a:rPr sz="3300" b="0" spc="-75">
                <a:solidFill>
                  <a:srgbClr val="F2F5FA"/>
                </a:solidFill>
                <a:latin typeface="Segoe UI Semibold"/>
              </a:rPr>
              <a:t> then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5562600"/>
            <a:ext cx="10807700" cy="584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9"/>
              </a:lnSpc>
            </a:pPr>
            <a:r>
              <a:rPr sz="1700" b="0">
                <a:solidFill>
                  <a:srgbClr val="C9D3E8"/>
                </a:solidFill>
                <a:latin typeface="Segoe UI"/>
              </a:rPr>
              <a:t>Every finding names the input that breaks it. What cannot be made concrete is dropped, or listed as "could not confirm".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Output of the probe on the example change, Node 22.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651000"/>
            <a:ext cx="9944100" cy="20603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408"/>
              </a:lnSpc>
            </a:pPr>
            <a:r>
              <a:rPr sz="5200" b="0" spc="-100">
                <a:solidFill>
                  <a:srgbClr val="F2F5FA"/>
                </a:solidFill>
                <a:latin typeface="Segoe UI Semibold"/>
              </a:rPr>
              <a:t>Outside reviewers are cheap and sometimes wrong. </a:t>
            </a:r>
            <a:r>
              <a:rPr sz="5200" b="0" spc="-100">
                <a:solidFill>
                  <a:srgbClr val="3DD9FF"/>
                </a:solidFill>
                <a:latin typeface="Segoe UI Semibold"/>
              </a:rPr>
              <a:t>Yours should not be.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4064000"/>
            <a:ext cx="8674100" cy="3599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100" b="0">
                <a:solidFill>
                  <a:srgbClr val="C9D3E8"/>
                </a:solidFill>
                <a:latin typeface="Segoe UI"/>
              </a:rPr>
              <a:t>A finding without a concrete failure does not go in the report.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3873500"/>
            <a:ext cx="7658100" cy="8818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72"/>
              </a:lnSpc>
            </a:pPr>
            <a:r>
              <a:rPr sz="3100" b="0" spc="-50">
                <a:solidFill>
                  <a:srgbClr val="F2F5FA"/>
                </a:solidFill>
                <a:latin typeface="Segoe UI Semibold"/>
              </a:rPr>
              <a:t>of the real problems found by </a:t>
            </a:r>
            <a:r>
              <a:rPr sz="3100" b="0" spc="-50">
                <a:solidFill>
                  <a:srgbClr val="3DD9FF"/>
                </a:solidFill>
                <a:latin typeface="Segoe UI Semibold"/>
              </a:rPr>
              <a:t>one cheap reader.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05800" y="1079500"/>
            <a:ext cx="3213100" cy="1401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FFB84D"/>
                </a:solidFill>
                <a:latin typeface="Segoe UI Semibold"/>
              </a:rPr>
              <a:t>Our first baseline, code only, the cheapest model for every reader.</a:t>
            </a:r>
            <a:r>
              <a:rPr sz="1600" b="0">
                <a:solidFill>
                  <a:srgbClr val="C9D3E8"/>
                </a:solidFill>
                <a:latin typeface="Segoe UI"/>
              </a:rPr>
              <a:t> A small set of cases. It is the reason for the next slide, not a general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review-loop's own first baseline, in skills/pre-pr-review/references/multipass.md.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5067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</a:pPr>
            <a:r>
              <a:rPr sz="3800" b="0" spc="-75">
                <a:solidFill>
                  <a:srgbClr val="F2F5FA"/>
                </a:solidFill>
                <a:latin typeface="Segoe UI Semibold"/>
              </a:rPr>
              <a:t>Three readers, each with </a:t>
            </a:r>
            <a:r>
              <a:rPr sz="3800" b="0" spc="-75">
                <a:solidFill>
                  <a:srgbClr val="3DD9FF"/>
                </a:solidFill>
                <a:latin typeface="Segoe UI Semibold"/>
              </a:rPr>
              <a:t>one job,</a:t>
            </a:r>
            <a:r>
              <a:rPr sz="3800" b="0" spc="-75">
                <a:solidFill>
                  <a:srgbClr val="F2F5FA"/>
                </a:solidFill>
                <a:latin typeface="Segoe UI Semibold"/>
              </a:rPr>
              <a:t> then a vote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5067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</a:pPr>
            <a:r>
              <a:rPr sz="3800" b="0" spc="-75">
                <a:solidFill>
                  <a:srgbClr val="F2F5FA"/>
                </a:solidFill>
                <a:latin typeface="Segoe UI Semibold"/>
              </a:rPr>
              <a:t>Pay for three readers only when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2209800"/>
            <a:ext cx="4597400" cy="425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2500" b="0" spc="-50">
                <a:solidFill>
                  <a:srgbClr val="8B7CFF"/>
                </a:solidFill>
                <a:latin typeface="Segoe UI Semibold"/>
              </a:rPr>
              <a:t>One reader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2838450"/>
            <a:ext cx="4597400" cy="44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Documentation and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3288010"/>
            <a:ext cx="4597400" cy="746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A small code change, away from any guard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4034730"/>
            <a:ext cx="4597400" cy="44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Costs one read of the diff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900" y="2209800"/>
            <a:ext cx="4597400" cy="425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2500" b="0" spc="-50">
                <a:solidFill>
                  <a:srgbClr val="3DD9FF"/>
                </a:solidFill>
                <a:latin typeface="Segoe UI Semibold"/>
              </a:rPr>
              <a:t>Three readers and a vote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900" y="2838450"/>
            <a:ext cx="4597400" cy="44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A larger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900" y="3288010"/>
            <a:ext cx="4597400" cy="44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Always, for a path marked as a 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900" y="3737570"/>
            <a:ext cx="4597400" cy="44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Costs about three reads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review-loop depth, skills/pre-pr-review/scripts/review-depth.sh. Default limit: 60 changed code lines.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4400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65"/>
              </a:lnSpc>
            </a:pPr>
            <a:r>
              <a:rPr sz="3300" b="0" spc="-75">
                <a:solidFill>
                  <a:srgbClr val="F2F5FA"/>
                </a:solidFill>
                <a:latin typeface="Segoe UI Semibold"/>
              </a:rPr>
              <a:t>It asks </a:t>
            </a:r>
            <a:r>
              <a:rPr sz="3300" b="0" spc="-75">
                <a:solidFill>
                  <a:srgbClr val="3DD9FF"/>
                </a:solidFill>
                <a:latin typeface="Segoe UI Semibold"/>
              </a:rPr>
              <a:t>before</a:t>
            </a:r>
            <a:r>
              <a:rPr sz="3300" b="0" spc="-75">
                <a:solidFill>
                  <a:srgbClr val="F2F5FA"/>
                </a:solidFill>
                <a:latin typeface="Segoe UI Semibold"/>
              </a:rPr>
              <a:t> you spend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5854700"/>
            <a:ext cx="108077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9"/>
              </a:lnSpc>
            </a:pPr>
            <a:r>
              <a:rPr sz="1700" b="0">
                <a:solidFill>
                  <a:srgbClr val="C9D3E8"/>
                </a:solidFill>
                <a:latin typeface="Segoe UI"/>
              </a:rPr>
              <a:t>The last commit, the last seven and the last twenty of a real game.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Run on Neon Smash (github.com/kenchris/soma-breakout), October 2026.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651000"/>
            <a:ext cx="9944100" cy="1373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408"/>
              </a:lnSpc>
            </a:pPr>
            <a:r>
              <a:rPr sz="5200" b="0" spc="-100">
                <a:solidFill>
                  <a:srgbClr val="F2F5FA"/>
                </a:solidFill>
                <a:latin typeface="Segoe UI Semibold"/>
              </a:rPr>
              <a:t>Three cycles at most. Then ask whether </a:t>
            </a:r>
            <a:r>
              <a:rPr sz="5200" b="0" spc="-100">
                <a:solidFill>
                  <a:srgbClr val="3DD9FF"/>
                </a:solidFill>
                <a:latin typeface="Segoe UI Semibold"/>
              </a:rPr>
              <a:t>the approach is wrong.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4064000"/>
            <a:ext cx="8674100" cy="719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100" b="0">
                <a:solidFill>
                  <a:srgbClr val="C9D3E8"/>
                </a:solidFill>
                <a:latin typeface="Segoe UI"/>
              </a:rPr>
              <a:t>After the first pass, read only the new diff. Fix the class of a bug, not the line.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651000"/>
            <a:ext cx="9944100" cy="1373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408"/>
              </a:lnSpc>
            </a:pPr>
            <a:r>
              <a:rPr sz="5200" b="0" spc="-100">
                <a:solidFill>
                  <a:srgbClr val="F2F5FA"/>
                </a:solidFill>
                <a:latin typeface="Segoe UI Semibold"/>
              </a:rPr>
              <a:t>What failure means </a:t>
            </a:r>
            <a:r>
              <a:rPr sz="5200" b="0" spc="-100">
                <a:solidFill>
                  <a:srgbClr val="3DD9FF"/>
                </a:solidFill>
                <a:latin typeface="Segoe UI Semibold"/>
              </a:rPr>
              <a:t>here</a:t>
            </a:r>
            <a:r>
              <a:rPr sz="5200" b="0" spc="-100">
                <a:solidFill>
                  <a:srgbClr val="F2F5FA"/>
                </a:solidFill>
                <a:latin typeface="Segoe UI Semibold"/>
              </a:rPr>
              <a:t> goes in one short file.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3378200"/>
            <a:ext cx="8674100" cy="719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100" b="0">
                <a:solidFill>
                  <a:srgbClr val="C9D3E8"/>
                </a:solidFill>
                <a:latin typeface="Segoe UI"/>
              </a:rPr>
              <a:t>REVIEW.md: what counts as a failure, which paths guard something, what to ignore, which classes were raised before. The reviewer reads it first.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3810000"/>
            <a:ext cx="9563100" cy="8289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528"/>
              </a:lnSpc>
            </a:pPr>
            <a:r>
              <a:rPr sz="6400" b="0" spc="-150">
                <a:solidFill>
                  <a:srgbClr val="F2F5FA"/>
                </a:solidFill>
                <a:latin typeface="Segoe UI Semibold"/>
              </a:rPr>
              <a:t>Checks that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5270500"/>
            <a:ext cx="8293100" cy="377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70"/>
              </a:lnSpc>
            </a:pPr>
            <a:r>
              <a:rPr sz="2200" b="0">
                <a:solidFill>
                  <a:srgbClr val="C9D3E8"/>
                </a:solidFill>
                <a:latin typeface="Segoe UI"/>
              </a:rPr>
              <a:t>Attention is expensive. A search is free.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651000"/>
            <a:ext cx="9944100" cy="1373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408"/>
              </a:lnSpc>
            </a:pPr>
            <a:r>
              <a:rPr sz="5200" b="0" spc="-100">
                <a:solidFill>
                  <a:srgbClr val="F2F5FA"/>
                </a:solidFill>
                <a:latin typeface="Segoe UI Semibold"/>
              </a:rPr>
              <a:t>If a search can find the pattern, </a:t>
            </a:r>
            <a:r>
              <a:rPr sz="5200" b="0" spc="-100">
                <a:solidFill>
                  <a:srgbClr val="3DD9FF"/>
                </a:solidFill>
                <a:latin typeface="Segoe UI Semibold"/>
              </a:rPr>
              <a:t>do not ask a reader to remember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4064000"/>
            <a:ext cx="8674100" cy="719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100" b="0">
                <a:solidFill>
                  <a:srgbClr val="C9D3E8"/>
                </a:solidFill>
                <a:latin typeface="Segoe UI"/>
              </a:rPr>
              <a:t>A line in a prompt costs attention on every review. A sweep costs a second and no model.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4400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65"/>
              </a:lnSpc>
            </a:pPr>
            <a:r>
              <a:rPr sz="3300" b="0" spc="-75">
                <a:solidFill>
                  <a:srgbClr val="F2F5FA"/>
                </a:solidFill>
                <a:latin typeface="Segoe UI Semibold"/>
              </a:rPr>
              <a:t>Sweeps: </a:t>
            </a:r>
            <a:r>
              <a:rPr sz="3300" b="0" spc="-75">
                <a:solidFill>
                  <a:srgbClr val="3DD9FF"/>
                </a:solidFill>
                <a:latin typeface="Segoe UI Semibold"/>
              </a:rPr>
              <a:t>the added lines,</a:t>
            </a:r>
            <a:r>
              <a:rPr sz="3300" b="0" spc="-75">
                <a:solidFill>
                  <a:srgbClr val="F2F5FA"/>
                </a:solidFill>
                <a:latin typeface="Segoe UI Semibold"/>
              </a:rPr>
              <a:t> run through search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5854700"/>
            <a:ext cx="108077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9"/>
              </a:lnSpc>
            </a:pPr>
            <a:r>
              <a:rPr sz="1700" b="0">
                <a:solidFill>
                  <a:srgbClr val="C9D3E8"/>
                </a:solidFill>
                <a:latin typeface="Segoe UI"/>
              </a:rPr>
              <a:t>No model, no cost. Each hit is a question.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Run on Neon Smash (github.com/kenchris/soma-breakout), last 20 commits, output shortened.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651000"/>
            <a:ext cx="9944100" cy="1584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240"/>
              </a:lnSpc>
            </a:pPr>
            <a:r>
              <a:rPr sz="6000" b="0" spc="-100">
                <a:solidFill>
                  <a:srgbClr val="F2F5FA"/>
                </a:solidFill>
                <a:latin typeface="Segoe UI Semibold"/>
              </a:rPr>
              <a:t>A hit is </a:t>
            </a:r>
            <a:r>
              <a:rPr sz="6000" b="0" spc="-100">
                <a:solidFill>
                  <a:srgbClr val="3DD9FF"/>
                </a:solidFill>
                <a:latin typeface="Segoe UI Semibold"/>
              </a:rPr>
              <a:t>a question,</a:t>
            </a:r>
            <a:r>
              <a:rPr sz="6000" b="0" spc="-100">
                <a:solidFill>
                  <a:srgbClr val="F2F5FA"/>
                </a:solidFill>
                <a:latin typeface="Segoe UI Semibold"/>
              </a:rPr>
              <a:t> not a finding.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3587750"/>
            <a:ext cx="8674100" cy="1079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100" b="0">
                <a:solidFill>
                  <a:srgbClr val="C9D3E8"/>
                </a:solidFill>
                <a:latin typeface="Segoe UI"/>
              </a:rPr>
              <a:t>Both of these are fine. The parse sits in a try and clamps the value. The listeners are added once, in a page that lives as long as the game. Answering takes a second.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js/assist.js and js/secretCode.js in Neon Smash.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4400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65"/>
              </a:lnSpc>
            </a:pPr>
            <a:r>
              <a:rPr sz="3300" b="0" spc="-75">
                <a:solidFill>
                  <a:srgbClr val="F2F5FA"/>
                </a:solidFill>
                <a:latin typeface="Segoe UI Semibold"/>
              </a:rPr>
              <a:t>Depth and sweeps on </a:t>
            </a:r>
            <a:r>
              <a:rPr sz="3300" b="0" spc="-75">
                <a:solidFill>
                  <a:srgbClr val="3DD9FF"/>
                </a:solidFill>
                <a:latin typeface="Segoe UI Semibold"/>
              </a:rPr>
              <a:t>a real game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07500" y="1714500"/>
            <a:ext cx="2324100" cy="18514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Last commit: one reader. Last seven: three. Then the added lines run through the sweeps: two questions, no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07500" y="4851697"/>
            <a:ext cx="2324100" cy="1307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>
                <a:solidFill>
                  <a:srgbClr val="8A97B1"/>
                </a:solidFill>
                <a:latin typeface="Segoe UI"/>
              </a:rPr>
              <a:t>Windows 11, Git Bash. The output is real; the typing is replayed. Neon Smash, github.com/kenchris/soma-breakout</a:t>
            </a:r>
          </a:p>
        </p:txBody>
      </p:sp>
      <p:pic>
        <p:nvPicPr>
          <p:cNvPr id="6" name="term-depth-sweeps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711200" y="1587500"/>
            <a:ext cx="8128000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4400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65"/>
              </a:lnSpc>
            </a:pPr>
            <a:r>
              <a:rPr sz="3300" b="0" spc="-75">
                <a:solidFill>
                  <a:srgbClr val="F2F5FA"/>
                </a:solidFill>
                <a:latin typeface="Segoe UI Semibold"/>
              </a:rPr>
              <a:t>Your own sweep is </a:t>
            </a:r>
            <a:r>
              <a:rPr sz="3300" b="0" spc="-75">
                <a:solidFill>
                  <a:srgbClr val="3DD9FF"/>
                </a:solidFill>
                <a:latin typeface="Segoe UI Semibold"/>
              </a:rPr>
              <a:t>one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5854700"/>
            <a:ext cx="108077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9"/>
              </a:lnSpc>
            </a:pPr>
            <a:r>
              <a:rPr sz="1700" b="0">
                <a:solidFill>
                  <a:srgbClr val="C9D3E8"/>
                </a:solidFill>
                <a:latin typeface="Segoe UI"/>
              </a:rPr>
              <a:t>name ## which files ## regex ## why. It goes in REVIEW.sweeps at the root of the repository.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The format of REVIEW.sweeps.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4400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65"/>
              </a:lnSpc>
            </a:pPr>
            <a:r>
              <a:rPr sz="3300" b="0" spc="-75">
                <a:solidFill>
                  <a:srgbClr val="F2F5FA"/>
                </a:solidFill>
                <a:latin typeface="Segoe UI Semibold"/>
              </a:rPr>
              <a:t>The gate: </a:t>
            </a:r>
            <a:r>
              <a:rPr sz="3300" b="0" spc="-75">
                <a:solidFill>
                  <a:srgbClr val="3DD9FF"/>
                </a:solidFill>
                <a:latin typeface="Segoe UI Semibold"/>
              </a:rPr>
              <a:t>"reviewed"</a:t>
            </a:r>
            <a:r>
              <a:rPr sz="3300" b="0" spc="-75">
                <a:solidFill>
                  <a:srgbClr val="F2F5FA"/>
                </a:solidFill>
                <a:latin typeface="Segoe UI Semibold"/>
              </a:rPr>
              <a:t> becomes a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5854700"/>
            <a:ext cx="108077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9"/>
              </a:lnSpc>
            </a:pPr>
            <a:r>
              <a:rPr sz="1700" b="0">
                <a:solidFill>
                  <a:srgbClr val="C9D3E8"/>
                </a:solidFill>
                <a:latin typeface="Segoe UI"/>
              </a:rPr>
              <a:t>A report in reviews/ with Open: 0 must cover every commit.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Run on the example change made for this talk.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651000"/>
            <a:ext cx="9944100" cy="1373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408"/>
              </a:lnSpc>
            </a:pPr>
            <a:r>
              <a:rPr sz="5200" b="0" spc="-100">
                <a:solidFill>
                  <a:srgbClr val="F2F5FA"/>
                </a:solidFill>
                <a:latin typeface="Segoe UI Semibold"/>
              </a:rPr>
              <a:t>The gate checks that a review </a:t>
            </a:r>
            <a:r>
              <a:rPr sz="5200" b="0" spc="-100">
                <a:solidFill>
                  <a:srgbClr val="3DD9FF"/>
                </a:solidFill>
                <a:latin typeface="Segoe UI Semibold"/>
              </a:rPr>
              <a:t>was written.</a:t>
            </a:r>
            <a:r>
              <a:rPr sz="5200" b="0" spc="-100">
                <a:solidFill>
                  <a:srgbClr val="F2F5FA"/>
                </a:solidFill>
                <a:latin typeface="Segoe UI Semibold"/>
              </a:rPr>
              <a:t> Not that it was good.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4064000"/>
            <a:ext cx="8674100" cy="719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100" b="0">
                <a:solidFill>
                  <a:srgbClr val="C9D3E8"/>
                </a:solidFill>
                <a:latin typeface="Segoe UI"/>
              </a:rPr>
              <a:t>It is a hand-over rule. Quality comes from the lenses, the readers, the verification and the eval.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4400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65"/>
              </a:lnSpc>
            </a:pPr>
            <a:r>
              <a:rPr sz="3300" b="0" spc="-75">
                <a:solidFill>
                  <a:srgbClr val="F2F5FA"/>
                </a:solidFill>
                <a:latin typeface="Segoe UI Semibold"/>
              </a:rPr>
              <a:t>The gate fails, then </a:t>
            </a:r>
            <a:r>
              <a:rPr sz="3300" b="0" spc="-75">
                <a:solidFill>
                  <a:srgbClr val="3DD9FF"/>
                </a:solidFill>
                <a:latin typeface="Segoe UI Semibold"/>
              </a:rPr>
              <a:t>passes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07500" y="1714500"/>
            <a:ext cx="2324100" cy="12342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No report: it stops. A report with Open: 0 that covers the commit: it passes.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07500" y="5082778"/>
            <a:ext cx="2324100" cy="10767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>
                <a:solidFill>
                  <a:srgbClr val="8A97B1"/>
                </a:solidFill>
                <a:latin typeface="Segoe UI"/>
              </a:rPr>
              <a:t>Windows 11, Git Bash. The output is real; the typing is replayed. The report was written by hand.</a:t>
            </a:r>
          </a:p>
        </p:txBody>
      </p:sp>
      <p:pic>
        <p:nvPicPr>
          <p:cNvPr id="6" name="term-gat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711200" y="1587500"/>
            <a:ext cx="8128000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3810000"/>
            <a:ext cx="9563100" cy="8289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528"/>
              </a:lnSpc>
            </a:pPr>
            <a:r>
              <a:rPr sz="6400" b="0" spc="-150">
                <a:solidFill>
                  <a:srgbClr val="F2F5FA"/>
                </a:solidFill>
                <a:latin typeface="Segoe UI Semibold"/>
              </a:rPr>
              <a:t>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5270500"/>
            <a:ext cx="8293100" cy="377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70"/>
              </a:lnSpc>
            </a:pPr>
            <a:r>
              <a:rPr sz="2200" b="0">
                <a:solidFill>
                  <a:srgbClr val="C9D3E8"/>
                </a:solidFill>
                <a:latin typeface="Segoe UI"/>
              </a:rPr>
              <a:t>Four levels. Stop when it is enough.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586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20"/>
              </a:lnSpc>
            </a:pPr>
            <a:r>
              <a:rPr sz="4400" b="0" spc="-75">
                <a:solidFill>
                  <a:srgbClr val="F2F5FA"/>
                </a:solidFill>
                <a:latin typeface="Segoe UI Semibold"/>
              </a:rPr>
              <a:t>Each level adds </a:t>
            </a:r>
            <a:r>
              <a:rPr sz="4400" b="0" spc="-75">
                <a:solidFill>
                  <a:srgbClr val="3DD9FF"/>
                </a:solidFill>
                <a:latin typeface="Segoe UI Semibold"/>
              </a:rPr>
              <a:t>one 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2806700"/>
            <a:ext cx="20701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500" b="0" spc="-50">
                <a:solidFill>
                  <a:srgbClr val="F2F5FA"/>
                </a:solidFill>
                <a:latin typeface="Segoe UI Semibold"/>
              </a:rPr>
              <a:t>Ask for a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3644900"/>
            <a:ext cx="2070100" cy="5607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B9C5DD"/>
                </a:solidFill>
                <a:latin typeface="Segoe UI"/>
              </a:rPr>
              <a:t>One command, no setup.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8400" y="2806700"/>
            <a:ext cx="20701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500" b="0" spc="-50">
                <a:solidFill>
                  <a:srgbClr val="F2F5FA"/>
                </a:solidFill>
                <a:latin typeface="Segoe UI Semibold"/>
              </a:rPr>
              <a:t>Tell it about your 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8400" y="3644900"/>
            <a:ext cx="2070100" cy="280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B9C5DD"/>
                </a:solidFill>
                <a:latin typeface="Segoe UI"/>
              </a:rPr>
              <a:t>Two minutes, once.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1600" y="2806700"/>
            <a:ext cx="2070100" cy="1028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500" b="0" spc="-50">
                <a:solidFill>
                  <a:srgbClr val="F2F5FA"/>
                </a:solidFill>
                <a:latin typeface="Segoe UI Semibold"/>
              </a:rPr>
              <a:t>Make "reviewed" a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1600" y="3987800"/>
            <a:ext cx="2070100" cy="280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B9C5DD"/>
                </a:solidFill>
                <a:latin typeface="Segoe UI"/>
              </a:rPr>
              <a:t>For teams.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94800" y="2806700"/>
            <a:ext cx="20701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500" b="0" spc="-50">
                <a:solidFill>
                  <a:srgbClr val="F2F5FA"/>
                </a:solidFill>
                <a:latin typeface="Segoe UI Semibold"/>
              </a:rPr>
              <a:t>Learn from outside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94800" y="3644900"/>
            <a:ext cx="2070100" cy="5607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B9C5DD"/>
                </a:solidFill>
                <a:latin typeface="Segoe UI"/>
              </a:rPr>
              <a:t>Optional, pays off after a few rounds.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4400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65"/>
              </a:lnSpc>
            </a:pPr>
            <a:r>
              <a:rPr sz="3300" b="0" spc="-75">
                <a:solidFill>
                  <a:srgbClr val="F2F5FA"/>
                </a:solidFill>
                <a:latin typeface="Segoe UI Semibold"/>
              </a:rPr>
              <a:t>Ask for a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5854700"/>
            <a:ext cx="108077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9"/>
              </a:lnSpc>
            </a:pPr>
            <a:r>
              <a:rPr sz="1700" b="0">
                <a:solidFill>
                  <a:srgbClr val="C9D3E8"/>
                </a:solidFill>
                <a:latin typeface="Segoe UI"/>
              </a:rPr>
              <a:t>The current branch, a pull request, a range, or three readers and a vote. Fix what it finds and run it again.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These are typed to the agent (Claude Code, or VS Code), not to a shell.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4400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65"/>
              </a:lnSpc>
            </a:pPr>
            <a:r>
              <a:rPr sz="3300" b="0" spc="-75">
                <a:solidFill>
                  <a:srgbClr val="F2F5FA"/>
                </a:solidFill>
                <a:latin typeface="Segoe UI Semibold"/>
              </a:rPr>
              <a:t>Install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5854700"/>
            <a:ext cx="108077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9"/>
              </a:lnSpc>
            </a:pPr>
            <a:r>
              <a:rPr sz="1700" b="0">
                <a:solidFill>
                  <a:srgbClr val="C9D3E8"/>
                </a:solidFill>
                <a:latin typeface="Segoe UI"/>
              </a:rPr>
              <a:t>Needs bash and git. On Windows, install.cmd finds the bash of Git for Windows.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README, Install.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4400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65"/>
              </a:lnSpc>
            </a:pPr>
            <a:r>
              <a:rPr sz="3300" b="0" spc="-75">
                <a:solidFill>
                  <a:srgbClr val="F2F5FA"/>
                </a:solidFill>
                <a:latin typeface="Segoe UI Semibold"/>
              </a:rPr>
              <a:t>Tell it about your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5854700"/>
            <a:ext cx="108077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9"/>
              </a:lnSpc>
            </a:pPr>
            <a:r>
              <a:rPr sz="1700" b="0">
                <a:solidFill>
                  <a:srgbClr val="C9D3E8"/>
                </a:solidFill>
                <a:latin typeface="Segoe UI"/>
              </a:rPr>
              <a:t>It never overwrites. Edit REVIEW.md a little: the reviewer reads it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Run on Neon Smash (github.com/kenchris/soma-breakout).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4400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65"/>
              </a:lnSpc>
            </a:pPr>
            <a:r>
              <a:rPr sz="3300" b="0" spc="-75">
                <a:solidFill>
                  <a:srgbClr val="F2F5FA"/>
                </a:solidFill>
                <a:latin typeface="Segoe UI Semibold"/>
              </a:rPr>
              <a:t>A REVIEW.md for a </a:t>
            </a:r>
            <a:r>
              <a:rPr sz="3300" b="0" spc="-75">
                <a:solidFill>
                  <a:srgbClr val="3DD9FF"/>
                </a:solidFill>
                <a:latin typeface="Segoe UI Semibold"/>
              </a:rPr>
              <a:t>small game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5854700"/>
            <a:ext cx="108077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9"/>
              </a:lnSpc>
            </a:pPr>
            <a:r>
              <a:rPr sz="1700" b="0">
                <a:solidFill>
                  <a:srgbClr val="C9D3E8"/>
                </a:solidFill>
                <a:latin typeface="Segoe UI"/>
              </a:rPr>
              <a:t>Short on purpose. A reviewer that has to read a long file reads it badly.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REVIEW.md written for Neon Smash for this talk.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4400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65"/>
              </a:lnSpc>
            </a:pPr>
            <a:r>
              <a:rPr sz="3300" b="0" spc="-75">
                <a:solidFill>
                  <a:srgbClr val="F2F5FA"/>
                </a:solidFill>
                <a:latin typeface="Segoe UI Semibold"/>
              </a:rPr>
              <a:t>Level 2 in </a:t>
            </a:r>
            <a:r>
              <a:rPr sz="3300" b="0" spc="-75">
                <a:solidFill>
                  <a:srgbClr val="3DD9FF"/>
                </a:solidFill>
                <a:latin typeface="Segoe UI Semibold"/>
              </a:rPr>
              <a:t>ten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07500" y="1714500"/>
            <a:ext cx="2324100" cy="18514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init creates REVIEW.md, REVIEW.sweeps, REVIEW.gate and reviews/. doctor checks the install.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07500" y="4851697"/>
            <a:ext cx="2324100" cy="1307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>
                <a:solidFill>
                  <a:srgbClr val="8A97B1"/>
                </a:solidFill>
                <a:latin typeface="Segoe UI"/>
              </a:rPr>
              <a:t>Windows 11, Git Bash. The output is real; the typing is replayed. Neon Smash, github.com/kenchris/soma-breakout</a:t>
            </a:r>
          </a:p>
        </p:txBody>
      </p:sp>
      <p:pic>
        <p:nvPicPr>
          <p:cNvPr id="6" name="term-init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711200" y="1587500"/>
            <a:ext cx="8128000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4400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65"/>
              </a:lnSpc>
            </a:pPr>
            <a:r>
              <a:rPr sz="3300" b="0" spc="-75">
                <a:solidFill>
                  <a:srgbClr val="F2F5FA"/>
                </a:solidFill>
                <a:latin typeface="Segoe UI Semibold"/>
              </a:rPr>
              <a:t>The same checks </a:t>
            </a:r>
            <a:r>
              <a:rPr sz="3300" b="0" spc="-75">
                <a:solidFill>
                  <a:srgbClr val="3DD9FF"/>
                </a:solidFill>
                <a:latin typeface="Segoe UI Semibold"/>
              </a:rPr>
              <a:t>inside VS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07500" y="1714500"/>
            <a:ext cx="2324100" cy="18599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550" b="0">
                <a:solidFill>
                  <a:srgbClr val="DCE4F5"/>
                </a:solidFill>
                <a:latin typeface="Segoe UI"/>
              </a:rPr>
              <a:t>Terminal, Run Task, review-loop: sweeps. The wait for the terminal is cut. The hits are added as warnings on the lines, in the Problems panel and in the editor.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07500" y="5082778"/>
            <a:ext cx="2324100" cy="10767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>
                <a:solidFill>
                  <a:srgbClr val="8A97B1"/>
                </a:solidFill>
                <a:latin typeface="Segoe UI"/>
              </a:rPr>
              <a:t>VS Code on Windows 11, a clean profile, Neon Smash. Recorded live: the task output and the warnings are real.</a:t>
            </a:r>
          </a:p>
        </p:txBody>
      </p:sp>
      <p:pic>
        <p:nvPicPr>
          <p:cNvPr id="6" name="vscode-tasks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711200" y="1587500"/>
            <a:ext cx="8128000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4400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65"/>
              </a:lnSpc>
            </a:pPr>
            <a:r>
              <a:rPr sz="3300" b="0" spc="-75">
                <a:solidFill>
                  <a:srgbClr val="F2F5FA"/>
                </a:solidFill>
                <a:latin typeface="Segoe UI Semibold"/>
              </a:rPr>
              <a:t>/pre-pr-review in </a:t>
            </a:r>
            <a:r>
              <a:rPr sz="3300" b="0" spc="-75">
                <a:solidFill>
                  <a:srgbClr val="3DD9FF"/>
                </a:solidFill>
                <a:latin typeface="Segoe UI Semibold"/>
              </a:rPr>
              <a:t>Copilot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07500" y="1714500"/>
            <a:ext cx="2324100" cy="15942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550" b="0">
                <a:solidFill>
                  <a:srgbClr val="DCE4F5"/>
                </a:solidFill>
                <a:latin typeface="Segoe UI"/>
              </a:rPr>
              <a:t>Agent mode in VS Code, on the last commit of Neon Smash. The report: no Important or Nit findings, and it says it could not run the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07500" y="4620617"/>
            <a:ext cx="2324100" cy="15388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>
                <a:solidFill>
                  <a:srgbClr val="8A97B1"/>
                </a:solidFill>
                <a:latin typeface="Segoe UI"/>
              </a:rPr>
              <a:t>VS Code on Windows 11, recorded live. Typing 2 times and the agent's work 6 times faster, still stretches cut. /pre-pr-review HEAD~1..HEAD, a ten-line change.</a:t>
            </a:r>
          </a:p>
        </p:txBody>
      </p:sp>
      <p:pic>
        <p:nvPicPr>
          <p:cNvPr id="6" name="vscode-copilot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711200" y="1587500"/>
            <a:ext cx="8128000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651000"/>
            <a:ext cx="9944100" cy="1215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784"/>
              </a:lnSpc>
            </a:pPr>
            <a:r>
              <a:rPr sz="4600" b="0" spc="-100">
                <a:solidFill>
                  <a:srgbClr val="F2F5FA"/>
                </a:solidFill>
                <a:latin typeface="Segoe UI Semibold"/>
              </a:rPr>
              <a:t>Not every project wants this yet. </a:t>
            </a:r>
            <a:r>
              <a:rPr sz="4600" b="0" spc="-100">
                <a:solidFill>
                  <a:srgbClr val="3DD9FF"/>
                </a:solidFill>
                <a:latin typeface="Segoe UI Semibold"/>
              </a:rPr>
              <a:t>One or two developers can try it first.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3829050"/>
            <a:ext cx="8674100" cy="1079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100" b="0">
                <a:solidFill>
                  <a:srgbClr val="C9D3E8"/>
                </a:solidFill>
                <a:latin typeface="Segoe UI"/>
              </a:rPr>
              <a:t>Keep REVIEW.md, the sweeps and the reports in a separate private repository. The skills are installed per developer, so the project itself does not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review-loop reads its settings from a file outside the repository when REVIEW_LOOP_CONFIG names one.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586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20"/>
              </a:lnSpc>
            </a:pPr>
            <a:r>
              <a:rPr sz="4400" b="0" spc="-75">
                <a:solidFill>
                  <a:srgbClr val="F2F5FA"/>
                </a:solidFill>
                <a:latin typeface="Segoe UI Semibold"/>
              </a:rPr>
              <a:t>The project stays </a:t>
            </a:r>
            <a:r>
              <a:rPr sz="4400" b="0" spc="-75">
                <a:solidFill>
                  <a:srgbClr val="3DD9FF"/>
                </a:solidFill>
                <a:latin typeface="Segoe UI Semibold"/>
              </a:rPr>
              <a:t>as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Our idea: a review-loop-private repository with one folder per project.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4400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65"/>
              </a:lnSpc>
            </a:pPr>
            <a:r>
              <a:rPr sz="3300" b="0" spc="-75">
                <a:solidFill>
                  <a:srgbClr val="F2F5FA"/>
                </a:solidFill>
                <a:latin typeface="Segoe UI Semibold"/>
              </a:rPr>
              <a:t>One file says </a:t>
            </a:r>
            <a:r>
              <a:rPr sz="3300" b="0" spc="-75">
                <a:solidFill>
                  <a:srgbClr val="3DD9FF"/>
                </a:solidFill>
                <a:latin typeface="Segoe UI Semibold"/>
              </a:rPr>
              <a:t>where everything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5854700"/>
            <a:ext cx="108077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9"/>
              </a:lnSpc>
            </a:pPr>
            <a:r>
              <a:rPr sz="1700" b="0">
                <a:solidFill>
                  <a:srgbClr val="C9D3E8"/>
                </a:solidFill>
                <a:latin typeface="Segoe UI"/>
              </a:rPr>
              <a:t>The reviewer reads REVIEW.md from there, the sweeps run from there, the reports and eval cases are kept there.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review-loop help, Configuration.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4400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65"/>
              </a:lnSpc>
            </a:pPr>
            <a:r>
              <a:rPr sz="3300" b="0" spc="-75">
                <a:solidFill>
                  <a:srgbClr val="F2F5FA"/>
                </a:solidFill>
                <a:latin typeface="Segoe UI Semibold"/>
              </a:rPr>
              <a:t>Same commands, </a:t>
            </a:r>
            <a:r>
              <a:rPr sz="3300" b="0" spc="-75">
                <a:solidFill>
                  <a:srgbClr val="3DD9FF"/>
                </a:solidFill>
                <a:latin typeface="Segoe UI Semibold"/>
              </a:rPr>
              <a:t>nothing added to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5854700"/>
            <a:ext cx="108077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9"/>
              </a:lnSpc>
            </a:pPr>
            <a:r>
              <a:rPr sz="1700" b="0">
                <a:solidFill>
                  <a:srgbClr val="C9D3E8"/>
                </a:solidFill>
                <a:latin typeface="Segoe UI"/>
              </a:rPr>
              <a:t>A sweep from the private file fires. The project has no new files and nothing to commit.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Run on Neon Smash, HEAD~7 to HEAD, with the private files in a separate folder. Output shortened, paths shortened.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5067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</a:pPr>
            <a:r>
              <a:rPr sz="3800" b="0" spc="-75">
                <a:solidFill>
                  <a:srgbClr val="F2F5FA"/>
                </a:solidFill>
                <a:latin typeface="Segoe UI Semibold"/>
              </a:rPr>
              <a:t>What a </a:t>
            </a:r>
            <a:r>
              <a:rPr sz="3800" b="0" spc="-75">
                <a:solidFill>
                  <a:srgbClr val="3DD9FF"/>
                </a:solidFill>
                <a:latin typeface="Segoe UI Semibold"/>
              </a:rPr>
              <a:t>private</a:t>
            </a:r>
            <a:r>
              <a:rPr sz="3800" b="0" spc="-75">
                <a:solidFill>
                  <a:srgbClr val="F2F5FA"/>
                </a:solidFill>
                <a:latin typeface="Segoe UI Semibold"/>
              </a:rPr>
              <a:t> setup gives, and what it does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2209800"/>
            <a:ext cx="4597400" cy="425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2500" b="0" spc="-50">
                <a:solidFill>
                  <a:srgbClr val="3DD9FF"/>
                </a:solidFill>
                <a:latin typeface="Segoe UI Semibold"/>
              </a:rPr>
              <a:t>Works the same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2838450"/>
            <a:ext cx="4597400" cy="44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/pre-pr-review, depth and sweeps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3288010"/>
            <a:ext cx="4597400" cy="44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Reports, scores and eval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3737570"/>
            <a:ext cx="4597400" cy="44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/retro on the outside comments you 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900" y="2209800"/>
            <a:ext cx="4597400" cy="425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2500" b="0" spc="-50">
                <a:solidFill>
                  <a:srgbClr val="FFB84D"/>
                </a:solidFill>
                <a:latin typeface="Segoe UI Semibold"/>
              </a:rPr>
              <a:t>Does not, until it moves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900" y="2838450"/>
            <a:ext cx="4597400" cy="746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CI and the gate cannot see files that are not in the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900" y="3585170"/>
            <a:ext cx="4597400" cy="44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Teammates review with their own settings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900" y="4034730"/>
            <a:ext cx="4597400" cy="44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Nothing is shared yet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Our reading of the configuration. Not tested in CI.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651000"/>
            <a:ext cx="9944100" cy="792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240"/>
              </a:lnSpc>
            </a:pPr>
            <a:r>
              <a:rPr sz="6000" b="0" spc="-100">
                <a:solidFill>
                  <a:srgbClr val="F2F5FA"/>
                </a:solidFill>
                <a:latin typeface="Segoe UI Semibold"/>
              </a:rPr>
              <a:t>Moving in later is </a:t>
            </a:r>
            <a:r>
              <a:rPr sz="6000" b="0" spc="-100">
                <a:solidFill>
                  <a:srgbClr val="3DD9FF"/>
                </a:solidFill>
                <a:latin typeface="Segoe UI Semibold"/>
              </a:rPr>
              <a:t>a copy.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2794000"/>
            <a:ext cx="8674100" cy="719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100" b="0">
                <a:solidFill>
                  <a:srgbClr val="C9D3E8"/>
                </a:solidFill>
                <a:latin typeface="Segoe UI"/>
              </a:rPr>
              <a:t>When the team says yes, copy the files to the project root and delete the config file. The root is the default place for all of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review-loop help: the defaults are REVIEW.md, REVIEW.sweeps, reviews/ and evals/ at the repository root.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4400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65"/>
              </a:lnSpc>
            </a:pPr>
            <a:r>
              <a:rPr sz="3300" b="0" spc="-75">
                <a:solidFill>
                  <a:srgbClr val="F2F5FA"/>
                </a:solidFill>
                <a:latin typeface="Segoe UI Semibold"/>
              </a:rPr>
              <a:t>Make "reviewed" a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5854700"/>
            <a:ext cx="108077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9"/>
              </a:lnSpc>
            </a:pPr>
            <a:r>
              <a:rPr sz="1700" b="0">
                <a:solidFill>
                  <a:srgbClr val="C9D3E8"/>
                </a:solidFill>
                <a:latin typeface="Segoe UI"/>
              </a:rPr>
              <a:t>Commit the report. Check before a hand-over or merge.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Run on the example change made for this talk. The report is written by the agent, here by hand.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651000"/>
            <a:ext cx="9944100" cy="1373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408"/>
              </a:lnSpc>
            </a:pPr>
            <a:r>
              <a:rPr sz="5200" b="0" spc="-100">
                <a:solidFill>
                  <a:srgbClr val="F2F5FA"/>
                </a:solidFill>
                <a:latin typeface="Segoe UI Semibold"/>
              </a:rPr>
              <a:t>In CI the scripts run. </a:t>
            </a:r>
            <a:r>
              <a:rPr sz="5200" b="0" spc="-100">
                <a:solidFill>
                  <a:srgbClr val="3DD9FF"/>
                </a:solidFill>
                <a:latin typeface="Segoe UI Semibold"/>
              </a:rPr>
              <a:t>The skills do not.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3378200"/>
            <a:ext cx="8674100" cy="719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100" b="0">
                <a:solidFill>
                  <a:srgbClr val="C9D3E8"/>
                </a:solidFill>
                <a:latin typeface="Segoe UI"/>
              </a:rPr>
              <a:t>Sweep hits appear as warnings on the changed lines of a pull request. The gate can be a required check.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docs/ci.md. The sample workflow is a sketch, not yet run on GitHub.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651000"/>
            <a:ext cx="9944100" cy="1373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408"/>
              </a:lnSpc>
            </a:pPr>
            <a:r>
              <a:rPr sz="5200" b="0" spc="-100">
                <a:solidFill>
                  <a:srgbClr val="F2F5FA"/>
                </a:solidFill>
                <a:latin typeface="Segoe UI Semibold"/>
              </a:rPr>
              <a:t>Plain SKILL.md files. They work where an agent </a:t>
            </a:r>
            <a:r>
              <a:rPr sz="5200" b="0" spc="-100">
                <a:solidFill>
                  <a:srgbClr val="3DD9FF"/>
                </a:solidFill>
                <a:latin typeface="Segoe UI Semibold"/>
              </a:rPr>
              <a:t>loads skills.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4064000"/>
            <a:ext cx="8674100" cy="1079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100" b="0">
                <a:solidFill>
                  <a:srgbClr val="C9D3E8"/>
                </a:solidFill>
                <a:latin typeface="Segoe UI"/>
              </a:rPr>
              <a:t>Claude Code, VS Code (Copilot agent mode and the Claude Code extension), other agents that read a skills folder. The scripts need only bash and git.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README, VS Code.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3810000"/>
            <a:ext cx="9563100" cy="8289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528"/>
              </a:lnSpc>
            </a:pPr>
            <a:r>
              <a:rPr sz="6400" b="0" spc="-150">
                <a:solidFill>
                  <a:srgbClr val="F2F5FA"/>
                </a:solidFill>
                <a:latin typeface="Segoe UI Semibold"/>
              </a:rPr>
              <a:t>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5270500"/>
            <a:ext cx="8293100" cy="377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70"/>
              </a:lnSpc>
            </a:pPr>
            <a:r>
              <a:rPr sz="2200" b="0">
                <a:solidFill>
                  <a:srgbClr val="C9D3E8"/>
                </a:solidFill>
                <a:latin typeface="Segoe UI"/>
              </a:rPr>
              <a:t>Every outside comment is a check you did not have.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5067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</a:pPr>
            <a:r>
              <a:rPr sz="3800" b="0" spc="-75">
                <a:solidFill>
                  <a:srgbClr val="F2F5FA"/>
                </a:solidFill>
                <a:latin typeface="Segoe UI Semibold"/>
              </a:rPr>
              <a:t>From a review thread to </a:t>
            </a:r>
            <a:r>
              <a:rPr sz="3800" b="0" spc="-75">
                <a:solidFill>
                  <a:srgbClr val="3DD9FF"/>
                </a:solidFill>
                <a:latin typeface="Segoe UI Semibold"/>
              </a:rPr>
              <a:t>the next review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4400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65"/>
              </a:lnSpc>
            </a:pPr>
            <a:r>
              <a:rPr sz="3300" b="0" spc="-75">
                <a:solidFill>
                  <a:srgbClr val="F2F5FA"/>
                </a:solidFill>
                <a:latin typeface="Segoe UI Semibold"/>
              </a:rPr>
              <a:t>Level 4: four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5562600"/>
            <a:ext cx="10807700" cy="584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9"/>
              </a:lnSpc>
            </a:pPr>
            <a:r>
              <a:rPr sz="1700" b="0">
                <a:solidFill>
                  <a:srgbClr val="C9D3E8"/>
                </a:solidFill>
                <a:latin typeface="Segoe UI"/>
              </a:rPr>
              <a:t>Download the open threads. See what is undecided. Decide each one. Then ask the agent what would have caught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docs/learning-from-reviews.md. Needs node 18 and a token that can read the pull requests.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5067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</a:pPr>
            <a:r>
              <a:rPr sz="3800" b="0" spc="-75">
                <a:solidFill>
                  <a:srgbClr val="F2F5FA"/>
                </a:solidFill>
                <a:latin typeface="Segoe UI Semibold"/>
              </a:rPr>
              <a:t>A verdict is </a:t>
            </a:r>
            <a:r>
              <a:rPr sz="3800" b="0" spc="-75">
                <a:solidFill>
                  <a:srgbClr val="3DD9FF"/>
                </a:solidFill>
                <a:latin typeface="Segoe UI Semibold"/>
              </a:rPr>
              <a:t>your decision</a:t>
            </a:r>
            <a:r>
              <a:rPr sz="3800" b="0" spc="-75">
                <a:solidFill>
                  <a:srgbClr val="F2F5FA"/>
                </a:solidFill>
                <a:latin typeface="Segoe UI Semibold"/>
              </a:rPr>
              <a:t> about one thread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2395835"/>
            <a:ext cx="4102100" cy="6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F2F5FA"/>
                </a:solidFill>
                <a:latin typeface="Segoe UI Semibold"/>
              </a:rPr>
              <a:t>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75200" y="2395835"/>
            <a:ext cx="6743700" cy="6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C9D3E8"/>
                </a:solidFill>
                <a:latin typeface="Segoe UI"/>
              </a:rPr>
              <a:t>Right, and fixed. Give the commit.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200" y="3022500"/>
            <a:ext cx="4102100" cy="6234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F2F5FA"/>
                </a:solidFill>
                <a:latin typeface="Segoe UI Semibold"/>
              </a:rPr>
              <a:t>rejected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75200" y="3022500"/>
            <a:ext cx="6743700" cy="6234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C9D3E8"/>
                </a:solidFill>
                <a:latin typeface="Segoe UI"/>
              </a:rPr>
              <a:t>Wrong. Say why: it is remembered.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3645991"/>
            <a:ext cx="4102100" cy="6234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F2F5FA"/>
                </a:solidFill>
                <a:latin typeface="Segoe UI Semibold"/>
              </a:rPr>
              <a:t>caught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75200" y="3645991"/>
            <a:ext cx="6743700" cy="6234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C9D3E8"/>
                </a:solidFill>
                <a:latin typeface="Segoe UI"/>
              </a:rPr>
              <a:t>My own review had already reported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200" y="4269482"/>
            <a:ext cx="4102100" cy="6234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F2F5FA"/>
                </a:solidFill>
                <a:latin typeface="Segoe UI Semibold"/>
              </a:rPr>
              <a:t>deferred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5200" y="4269482"/>
            <a:ext cx="6743700" cy="6234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C9D3E8"/>
                </a:solidFill>
                <a:latin typeface="Segoe UI"/>
              </a:rPr>
              <a:t>Real, but not now.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docs/learning-from-reviews.md. Also: missed, and new for undecided.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5067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</a:pPr>
            <a:r>
              <a:rPr sz="3800" b="0" spc="-75">
                <a:solidFill>
                  <a:srgbClr val="F2F5FA"/>
                </a:solidFill>
                <a:latin typeface="Segoe UI Semibold"/>
              </a:rPr>
              <a:t>The cheapest change that </a:t>
            </a:r>
            <a:r>
              <a:rPr sz="3800" b="0" spc="-75">
                <a:solidFill>
                  <a:srgbClr val="3DD9FF"/>
                </a:solidFill>
                <a:latin typeface="Segoe UI Semibold"/>
              </a:rPr>
              <a:t>would have caught it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5067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</a:pPr>
            <a:r>
              <a:rPr sz="3800" b="0" spc="-75">
                <a:solidFill>
                  <a:srgbClr val="F2F5FA"/>
                </a:solidFill>
                <a:latin typeface="Segoe UI Semibold"/>
              </a:rPr>
              <a:t>What /retro said about a real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2552700"/>
            <a:ext cx="20701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500" b="0" spc="-50">
                <a:solidFill>
                  <a:srgbClr val="F2F5FA"/>
                </a:solidFill>
                <a:latin typeface="Segoe UI Semibold"/>
              </a:rPr>
              <a:t>Three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3048000"/>
            <a:ext cx="2070100" cy="5607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B9C5DD"/>
                </a:solidFill>
                <a:latin typeface="Segoe UI"/>
              </a:rPr>
              <a:t>The lens covered it, the reader skipped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8400" y="2552700"/>
            <a:ext cx="20701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500" b="0" spc="-50">
                <a:solidFill>
                  <a:srgbClr val="F2F5FA"/>
                </a:solidFill>
                <a:latin typeface="Segoe UI Semibold"/>
              </a:rPr>
              <a:t>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8400" y="3048000"/>
            <a:ext cx="2070100" cy="1121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B9C5DD"/>
                </a:solidFill>
                <a:latin typeface="Segoe UI"/>
              </a:rPr>
              <a:t>A one-line search would find it: a pointer cast with no family check.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1600" y="2552700"/>
            <a:ext cx="20701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500" b="0" spc="-50">
                <a:solidFill>
                  <a:srgbClr val="F2F5FA"/>
                </a:solidFill>
                <a:latin typeface="Segoe UI Semibold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1600" y="3048000"/>
            <a:ext cx="2070100" cy="5607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B9C5DD"/>
                </a:solidFill>
                <a:latin typeface="Segoe UI"/>
              </a:rPr>
              <a:t>A deleted test file nobody had noticed.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94800" y="2552700"/>
            <a:ext cx="20701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500" b="0" spc="-50">
                <a:solidFill>
                  <a:srgbClr val="F2F5FA"/>
                </a:solidFill>
                <a:latin typeface="Segoe UI Semibold"/>
              </a:rPr>
              <a:t>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94800" y="3048000"/>
            <a:ext cx="2070100" cy="1121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B9C5DD"/>
                </a:solidFill>
                <a:latin typeface="Segoe UI"/>
              </a:rPr>
              <a:t>A ranked list of changes, instead of nine fixes that teach nothing.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The Copilot round from slide 7: nine comments, eight right. The README does not break down the other three.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651000"/>
            <a:ext cx="9944100" cy="1373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408"/>
              </a:lnSpc>
            </a:pPr>
            <a:r>
              <a:rPr sz="5200" b="0" spc="-100">
                <a:solidFill>
                  <a:srgbClr val="F2F5FA"/>
                </a:solidFill>
                <a:latin typeface="Segoe UI Semibold"/>
              </a:rPr>
              <a:t>Measure the reviewer too. </a:t>
            </a:r>
            <a:r>
              <a:rPr sz="5200" b="0" spc="-100">
                <a:solidFill>
                  <a:srgbClr val="3DD9FF"/>
                </a:solidFill>
                <a:latin typeface="Segoe UI Semibold"/>
              </a:rPr>
              <a:t>Recall and noise.</a:t>
            </a:r>
            <a:r>
              <a:rPr sz="5200" b="0" spc="-100">
                <a:solidFill>
                  <a:srgbClr val="F2F5FA"/>
                </a:solidFill>
                <a:latin typeface="Segoe UI Semibold"/>
              </a:rPr>
              <a:t> Both.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3378200"/>
            <a:ext cx="8674100" cy="1079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100" b="0">
                <a:solidFill>
                  <a:srgbClr val="C9D3E8"/>
                </a:solidFill>
                <a:latin typeface="Segoe UI"/>
              </a:rPr>
              <a:t>Recall: of the real problems, how many it reported. Noise: of what it reported, how much was wrong. Raising recall is easy. Noise is what it costs the author.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skills/review-eval/SKILL.md.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651000"/>
            <a:ext cx="9944100" cy="1373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408"/>
              </a:lnSpc>
            </a:pPr>
            <a:r>
              <a:rPr sz="5200" b="0" spc="-100">
                <a:solidFill>
                  <a:srgbClr val="F2F5FA"/>
                </a:solidFill>
                <a:latin typeface="Segoe UI Semibold"/>
              </a:rPr>
              <a:t>A rejected comment keeps </a:t>
            </a:r>
            <a:r>
              <a:rPr sz="5200" b="0" spc="-100">
                <a:solidFill>
                  <a:srgbClr val="3DD9FF"/>
                </a:solidFill>
                <a:latin typeface="Segoe UI Semibold"/>
              </a:rPr>
              <a:t>your reason.</a:t>
            </a:r>
            <a:r>
              <a:rPr sz="5200" b="0" spc="-100">
                <a:solidFill>
                  <a:srgbClr val="F2F5FA"/>
                </a:solidFill>
                <a:latin typeface="Segoe UI Semibold"/>
              </a:rPr>
              <a:t> It is not fixed twice.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4064000"/>
            <a:ext cx="8674100" cy="3599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100" b="0">
                <a:solidFill>
                  <a:srgbClr val="C9D3E8"/>
                </a:solidFill>
                <a:latin typeface="Segoe UI"/>
              </a:rPr>
              <a:t>And a change to the lenses is kept only if the eval says it helped.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651000"/>
            <a:ext cx="9944100" cy="182254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784"/>
              </a:lnSpc>
            </a:pPr>
            <a:r>
              <a:rPr sz="4600" b="0" spc="-100">
                <a:solidFill>
                  <a:srgbClr val="F2F5FA"/>
                </a:solidFill>
                <a:latin typeface="Segoe UI Semibold"/>
              </a:rPr>
              <a:t>It pays off after a few rounds. </a:t>
            </a:r>
            <a:r>
              <a:rPr sz="4600" b="0" spc="-100">
                <a:solidFill>
                  <a:srgbClr val="3DD9FF"/>
                </a:solidFill>
                <a:latin typeface="Segoe UI Semibold"/>
              </a:rPr>
              <a:t>With one or two comments there is nothing to learn from yet.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3829050"/>
            <a:ext cx="8674100" cy="3599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100" b="0">
                <a:solidFill>
                  <a:srgbClr val="C9D3E8"/>
                </a:solidFill>
                <a:latin typeface="Segoe UI"/>
              </a:rPr>
              <a:t>Start with review-loop threads sync.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3810000"/>
            <a:ext cx="9563100" cy="8289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528"/>
              </a:lnSpc>
            </a:pPr>
            <a:r>
              <a:rPr sz="6400" b="0" spc="-150">
                <a:solidFill>
                  <a:srgbClr val="F2F5FA"/>
                </a:solidFill>
                <a:latin typeface="Segoe UI Semibold"/>
              </a:rPr>
              <a:t>For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5270500"/>
            <a:ext cx="8293100" cy="377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70"/>
              </a:lnSpc>
            </a:pPr>
            <a:r>
              <a:rPr sz="2200" b="0">
                <a:solidFill>
                  <a:srgbClr val="C9D3E8"/>
                </a:solidFill>
                <a:latin typeface="Segoe UI"/>
              </a:rPr>
              <a:t>What to decide, what to measure, how to start.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651000"/>
            <a:ext cx="9944100" cy="15847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60"/>
              </a:lnSpc>
            </a:pPr>
            <a:r>
              <a:rPr sz="4000" b="0" spc="-100">
                <a:solidFill>
                  <a:srgbClr val="F2F5FA"/>
                </a:solidFill>
                <a:latin typeface="Segoe UI Semibold"/>
              </a:rPr>
              <a:t>The question is not </a:t>
            </a:r>
            <a:r>
              <a:rPr sz="4000" b="0" spc="-100">
                <a:solidFill>
                  <a:srgbClr val="3DD9FF"/>
                </a:solidFill>
                <a:latin typeface="Segoe UI Semibold"/>
              </a:rPr>
              <a:t>"did a human read it?"</a:t>
            </a:r>
            <a:r>
              <a:rPr sz="4000" b="0" spc="-100">
                <a:solidFill>
                  <a:srgbClr val="F2F5FA"/>
                </a:solidFill>
                <a:latin typeface="Segoe UI Semibold"/>
              </a:rPr>
              <a:t> It is what could go wrong, and which check should catch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3587750"/>
            <a:ext cx="8674100" cy="3599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100" b="0">
                <a:solidFill>
                  <a:srgbClr val="C9D3E8"/>
                </a:solidFill>
                <a:latin typeface="Segoe UI"/>
              </a:rPr>
              <a:t>The post calls reading by a person an imprecise proxy for that question.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Osmani, Lunt and Wang, "How the Claude Code team does code review", 15 October 2026.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586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20"/>
              </a:lnSpc>
            </a:pPr>
            <a:r>
              <a:rPr sz="4400" b="0" spc="-75">
                <a:solidFill>
                  <a:srgbClr val="F2F5FA"/>
                </a:solidFill>
                <a:latin typeface="Segoe UI Semibold"/>
              </a:rPr>
              <a:t>Who does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2209800"/>
            <a:ext cx="4597400" cy="425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2500" b="0" spc="-50">
                <a:solidFill>
                  <a:srgbClr val="3DD9FF"/>
                </a:solidFill>
                <a:latin typeface="Segoe UI Semibold"/>
              </a:rPr>
              <a:t>Machines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2838450"/>
            <a:ext cx="4597400" cy="44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Routine mistakes in a diff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3288010"/>
            <a:ext cx="4597400" cy="44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Mechanical patterns, as sweeps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3737570"/>
            <a:ext cx="4597400" cy="44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Whether the tests ran and passed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900" y="2209800"/>
            <a:ext cx="4597400" cy="425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2500" b="0" spc="-50">
                <a:solidFill>
                  <a:srgbClr val="FFB84D"/>
                </a:solidFill>
                <a:latin typeface="Segoe UI Semibold"/>
              </a:rPr>
              <a:t>People keep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900" y="2838450"/>
            <a:ext cx="4597400" cy="44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Whether to build it at 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900" y="3288010"/>
            <a:ext cx="4597400" cy="746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Risky code: billing, the updater, CI workflows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900" y="4034730"/>
            <a:ext cx="4597400" cy="44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900" y="4484290"/>
            <a:ext cx="4597400" cy="44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Owning the 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The split is from Osmani, Lunt and Wang, 15 October 2026.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651000"/>
            <a:ext cx="9944100" cy="182254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784"/>
              </a:lnSpc>
            </a:pPr>
            <a:r>
              <a:rPr sz="4600" b="0" spc="-100">
                <a:solidFill>
                  <a:srgbClr val="F2F5FA"/>
                </a:solidFill>
                <a:latin typeface="Segoe UI Semibold"/>
              </a:rPr>
              <a:t>Whoever prompted the change is on the hook for it. </a:t>
            </a:r>
            <a:r>
              <a:rPr sz="4600" b="0" spc="-100">
                <a:solidFill>
                  <a:srgbClr val="3DD9FF"/>
                </a:solidFill>
                <a:latin typeface="Segoe UI Semibold"/>
              </a:rPr>
              <a:t>An agent's approval never counts as a person's.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3829050"/>
            <a:ext cx="8674100" cy="719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100" b="0">
                <a:solidFill>
                  <a:srgbClr val="C9D3E8"/>
                </a:solidFill>
                <a:latin typeface="Segoe UI"/>
              </a:rPr>
              <a:t>The gate checks that a review was written. It never replaces the person who signs off.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Osmani, Lunt and Wang, "How the Claude Code team does code review", 15 October 2026.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586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20"/>
              </a:lnSpc>
            </a:pPr>
            <a:r>
              <a:rPr sz="4400" b="0" spc="-75">
                <a:solidFill>
                  <a:srgbClr val="F2F5FA"/>
                </a:solidFill>
                <a:latin typeface="Segoe UI Semibold"/>
              </a:rPr>
              <a:t>What to </a:t>
            </a:r>
            <a:r>
              <a:rPr sz="4400" b="0" spc="-75">
                <a:solidFill>
                  <a:srgbClr val="3DD9FF"/>
                </a:solidFill>
                <a:latin typeface="Segoe UI Semibold"/>
              </a:rPr>
              <a:t>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2395835"/>
            <a:ext cx="4102100" cy="9072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F2F5FA"/>
                </a:solidFill>
                <a:latin typeface="Segoe UI Semibold"/>
              </a:rPr>
              <a:t>Human comments, and the time a PR waits on a person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75200" y="2395835"/>
            <a:ext cx="6743700" cy="9072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C9D3E8"/>
                </a:solidFill>
                <a:latin typeface="Segoe UI"/>
              </a:rPr>
              <a:t>Your tracker. review-loop does not measure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200" y="3303091"/>
            <a:ext cx="4102100" cy="639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F2F5FA"/>
                </a:solidFill>
                <a:latin typeface="Segoe UI Semibold"/>
              </a:rPr>
              <a:t>Recall and noise of the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75200" y="3303091"/>
            <a:ext cx="6743700" cy="639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530" b="0">
                <a:solidFill>
                  <a:srgbClr val="A8F0C9"/>
                </a:solidFill>
                <a:latin typeface="Consolas"/>
              </a:rPr>
              <a:t>review-loop eval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3942953"/>
            <a:ext cx="4102100" cy="639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F2F5FA"/>
                </a:solidFill>
                <a:latin typeface="Segoe UI Semibold"/>
              </a:rPr>
              <a:t>Findings and outcomes per 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75200" y="3942953"/>
            <a:ext cx="6743700" cy="639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530" b="0">
                <a:solidFill>
                  <a:srgbClr val="A8F0C9"/>
                </a:solidFill>
                <a:latin typeface="Consolas"/>
              </a:rPr>
              <a:t>review-loop score show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200" y="4582814"/>
            <a:ext cx="4102100" cy="6234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F2F5FA"/>
                </a:solidFill>
                <a:latin typeface="Segoe UI Semibold"/>
              </a:rPr>
              <a:t>Reverts and incidents: the guardrail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5200" y="4582814"/>
            <a:ext cx="6743700" cy="6234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C9D3E8"/>
                </a:solidFill>
                <a:latin typeface="Segoe UI"/>
              </a:rPr>
              <a:t>Your data. Turn each into an eval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The measures are from Osmani, Lunt and Wang, 15 October 2026. The right column is review-loop's README.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651000"/>
            <a:ext cx="9944100" cy="1373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408"/>
              </a:lnSpc>
            </a:pPr>
            <a:r>
              <a:rPr sz="5200" b="0" spc="-100">
                <a:solidFill>
                  <a:srgbClr val="F2F5FA"/>
                </a:solidFill>
                <a:latin typeface="Segoe UI Semibold"/>
              </a:rPr>
              <a:t>The cost argument is </a:t>
            </a:r>
            <a:r>
              <a:rPr sz="5200" b="0" spc="-100">
                <a:solidFill>
                  <a:srgbClr val="3DD9FF"/>
                </a:solidFill>
                <a:latin typeface="Segoe UI Semibold"/>
              </a:rPr>
              <a:t>human time,</a:t>
            </a:r>
            <a:r>
              <a:rPr sz="5200" b="0" spc="-100">
                <a:solidFill>
                  <a:srgbClr val="F2F5FA"/>
                </a:solidFill>
                <a:latin typeface="Segoe UI Semibold"/>
              </a:rPr>
              <a:t> not tokens.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3378200"/>
            <a:ext cx="8674100" cy="14398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100" b="0">
                <a:solidFill>
                  <a:srgbClr val="C9D3E8"/>
                </a:solidFill>
                <a:latin typeface="Segoe UI"/>
              </a:rPr>
              <a:t>A senior engineer pulled out of deep work to catch a routine mistake costs far more than an automated review. The post gives no dollar or token figures, and neither does this talk. review-loop records the tokens each run used, so you can measure your 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Osmani, Lunt and Wang, "How the Claude Code team does code review", 15 October 2026.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586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20"/>
              </a:lnSpc>
            </a:pPr>
            <a:r>
              <a:rPr sz="4400" b="0" spc="-75">
                <a:solidFill>
                  <a:srgbClr val="F2F5FA"/>
                </a:solidFill>
                <a:latin typeface="Segoe UI Semibold"/>
              </a:rPr>
              <a:t>A way to </a:t>
            </a:r>
            <a:r>
              <a:rPr sz="4400" b="0" spc="-75">
                <a:solidFill>
                  <a:srgbClr val="3DD9FF"/>
                </a:solidFill>
                <a:latin typeface="Segoe UI Semibold"/>
              </a:rPr>
              <a:t>roll it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1587500"/>
            <a:ext cx="20701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0">
                <a:solidFill>
                  <a:srgbClr val="3DD9FF"/>
                </a:solidFill>
                <a:latin typeface="Segoe UI Semibold"/>
              </a:rPr>
              <a:t>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2019300"/>
            <a:ext cx="2070100" cy="1005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</a:pPr>
            <a:r>
              <a:rPr sz="1500" b="0">
                <a:solidFill>
                  <a:srgbClr val="C9D3E8"/>
                </a:solidFill>
                <a:latin typeface="Segoe UI"/>
              </a:rPr>
              <a:t>One repository, or one or two developers with the files kept privately. Levels 1 and 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9500" y="3937000"/>
            <a:ext cx="20701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0">
                <a:solidFill>
                  <a:srgbClr val="3DD9FF"/>
                </a:solidFill>
                <a:latin typeface="Segoe UI Semibold"/>
              </a:rPr>
              <a:t>Weeks 2 to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9500" y="4368800"/>
            <a:ext cx="2070100" cy="754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</a:pPr>
            <a:r>
              <a:rPr sz="1500" b="0">
                <a:solidFill>
                  <a:srgbClr val="C9D3E8"/>
                </a:solidFill>
                <a:latin typeface="Segoe UI"/>
              </a:rPr>
              <a:t>Tune REVIEW.md as reviewers disagree with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1587500"/>
            <a:ext cx="20701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0">
                <a:solidFill>
                  <a:srgbClr val="3DD9FF"/>
                </a:solidFill>
                <a:latin typeface="Segoe UI Semibold"/>
              </a:rPr>
              <a:t>Then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2019300"/>
            <a:ext cx="2070100" cy="754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</a:pPr>
            <a:r>
              <a:rPr sz="1500" b="0">
                <a:solidFill>
                  <a:srgbClr val="C9D3E8"/>
                </a:solidFill>
                <a:latin typeface="Segoe UI"/>
              </a:rPr>
              <a:t>Level 3: the gate, for the paths that guard something.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8800" y="3937000"/>
            <a:ext cx="2070100" cy="71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0">
                <a:solidFill>
                  <a:srgbClr val="3DD9FF"/>
                </a:solidFill>
                <a:latin typeface="Segoe UI Semibold"/>
              </a:rPr>
              <a:t>After a few rounds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8800" y="4724400"/>
            <a:ext cx="2070100" cy="502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</a:pPr>
            <a:r>
              <a:rPr sz="1500" b="0">
                <a:solidFill>
                  <a:srgbClr val="C9D3E8"/>
                </a:solidFill>
                <a:latin typeface="Segoe UI"/>
              </a:rPr>
              <a:t>Level 4: learn from outside review.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The post: start with one repository, tune REVIEW.md for a few weeks, then widen. The mapping to levels is ours.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651000"/>
            <a:ext cx="9944100" cy="1584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240"/>
              </a:lnSpc>
            </a:pPr>
            <a:r>
              <a:rPr sz="6000" b="0" spc="-100">
                <a:solidFill>
                  <a:srgbClr val="F2F5FA"/>
                </a:solidFill>
                <a:latin typeface="Segoe UI Semibold"/>
              </a:rPr>
              <a:t>Start strict, </a:t>
            </a:r>
            <a:r>
              <a:rPr sz="6000" b="0" spc="-100">
                <a:solidFill>
                  <a:srgbClr val="3DD9FF"/>
                </a:solidFill>
                <a:latin typeface="Segoe UI Semibold"/>
              </a:rPr>
              <a:t>loosen with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3587750"/>
            <a:ext cx="8674100" cy="719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100" b="0">
                <a:solidFill>
                  <a:srgbClr val="C9D3E8"/>
                </a:solidFill>
                <a:latin typeface="Segoe UI"/>
              </a:rPr>
              <a:t>In review-loop a guard path always gets three readers. Automatic risk tiers from the paths a change touches are planned, not built.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Osmani, Lunt and Wang, "How the Claude Code team does code review", 15 October 2026.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586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20"/>
              </a:lnSpc>
            </a:pPr>
            <a:r>
              <a:rPr sz="4400" b="0" spc="-75">
                <a:solidFill>
                  <a:srgbClr val="F2F5FA"/>
                </a:solidFill>
                <a:latin typeface="Segoe UI Semibold"/>
              </a:rPr>
              <a:t>Four questions for your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2552700"/>
            <a:ext cx="20701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500" b="0" spc="-50">
                <a:solidFill>
                  <a:srgbClr val="F2F5FA"/>
                </a:solidFill>
                <a:latin typeface="Segoe UI Semibold"/>
              </a:rPr>
              <a:t>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3048000"/>
            <a:ext cx="2070100" cy="5607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B9C5DD"/>
                </a:solidFill>
                <a:latin typeface="Segoe UI"/>
              </a:rPr>
              <a:t>Who owns a change an agent wrote?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8400" y="2552700"/>
            <a:ext cx="20701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500" b="0" spc="-50">
                <a:solidFill>
                  <a:srgbClr val="F2F5FA"/>
                </a:solidFill>
                <a:latin typeface="Segoe UI Semibold"/>
              </a:rPr>
              <a:t>Guards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8400" y="3048000"/>
            <a:ext cx="2070100" cy="5607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B9C5DD"/>
                </a:solidFill>
                <a:latin typeface="Segoe UI"/>
              </a:rPr>
              <a:t>Which paths always need a person?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1600" y="2552700"/>
            <a:ext cx="20701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500" b="0" spc="-50">
                <a:solidFill>
                  <a:srgbClr val="F2F5FA"/>
                </a:solidFill>
                <a:latin typeface="Segoe UI Semibold"/>
              </a:rPr>
              <a:t>Measures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1600" y="3048000"/>
            <a:ext cx="2070100" cy="5607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B9C5DD"/>
                </a:solidFill>
                <a:latin typeface="Segoe UI"/>
              </a:rPr>
              <a:t>What would make us tighten review?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94800" y="2552700"/>
            <a:ext cx="20701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500" b="0" spc="-50">
                <a:solidFill>
                  <a:srgbClr val="F2F5FA"/>
                </a:solidFill>
                <a:latin typeface="Segoe UI Semibold"/>
              </a:rPr>
              <a:t>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94800" y="3048000"/>
            <a:ext cx="2070100" cy="841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B9C5DD"/>
                </a:solidFill>
                <a:latin typeface="Segoe UI"/>
              </a:rPr>
              <a:t>Where do review findings go after the round?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3810000"/>
            <a:ext cx="9563100" cy="8289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528"/>
              </a:lnSpc>
            </a:pPr>
            <a:r>
              <a:rPr sz="6400" b="0" spc="-150">
                <a:solidFill>
                  <a:srgbClr val="F2F5FA"/>
                </a:solidFill>
                <a:latin typeface="Segoe UI Semibold"/>
              </a:rPr>
              <a:t>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5270500"/>
            <a:ext cx="8293100" cy="377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70"/>
              </a:lnSpc>
            </a:pPr>
            <a:r>
              <a:rPr sz="2200" b="0">
                <a:solidFill>
                  <a:srgbClr val="C9D3E8"/>
                </a:solidFill>
                <a:latin typeface="Segoe UI"/>
              </a:rPr>
              <a:t>What it does not do.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5067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</a:pPr>
            <a:r>
              <a:rPr sz="3800" b="0" spc="-75">
                <a:solidFill>
                  <a:srgbClr val="F2F5FA"/>
                </a:solidFill>
                <a:latin typeface="Segoe UI Semibold"/>
              </a:rPr>
              <a:t>A small, generic version of some of these pieces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2209800"/>
            <a:ext cx="4597400" cy="425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2500" b="0" spc="-50">
                <a:solidFill>
                  <a:srgbClr val="3DD9FF"/>
                </a:solidFill>
                <a:latin typeface="Segoe UI Semibold"/>
              </a:rPr>
              <a:t>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2838450"/>
            <a:ext cx="4597400" cy="44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Lenses, sweeps and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3288010"/>
            <a:ext cx="4597400" cy="44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Several readers and a vote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3737570"/>
            <a:ext cx="4597400" cy="44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A report, a gate and a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4187130"/>
            <a:ext cx="4597400" cy="44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Retro and 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900" y="2209800"/>
            <a:ext cx="4597400" cy="425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2500" b="0" spc="-50">
                <a:solidFill>
                  <a:srgbClr val="FFB84D"/>
                </a:solidFill>
                <a:latin typeface="Segoe UI Semibold"/>
              </a:rPr>
              <a:t>It does 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900" y="2838450"/>
            <a:ext cx="4597400" cy="44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Merge queues and staged rollout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900" y="3288010"/>
            <a:ext cx="4597400" cy="44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Feature flags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900" y="3737570"/>
            <a:ext cx="4597400" cy="44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Risk-tiered approval (planned)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900" y="4187130"/>
            <a:ext cx="4597400" cy="44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DCE4F5"/>
                </a:solidFill>
                <a:latin typeface="Segoe UI"/>
              </a:rPr>
              <a:t>Explainers for modules (planned)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README, Background, and PLAN.md.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651000"/>
            <a:ext cx="9944100" cy="20603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408"/>
              </a:lnSpc>
            </a:pPr>
            <a:r>
              <a:rPr sz="5200" b="0" spc="-100">
                <a:solidFill>
                  <a:srgbClr val="F2F5FA"/>
                </a:solidFill>
                <a:latin typeface="Segoe UI Semibold"/>
              </a:rPr>
              <a:t>Three readers cost about </a:t>
            </a:r>
            <a:r>
              <a:rPr sz="5200" b="0" spc="-100">
                <a:solidFill>
                  <a:srgbClr val="3DD9FF"/>
                </a:solidFill>
                <a:latin typeface="Segoe UI Semibold"/>
              </a:rPr>
              <a:t>three times</a:t>
            </a:r>
            <a:r>
              <a:rPr sz="5200" b="0" spc="-100">
                <a:solidFill>
                  <a:srgbClr val="F2F5FA"/>
                </a:solidFill>
                <a:latin typeface="Segoe UI Semibold"/>
              </a:rPr>
              <a:t> one. Say so before launching.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4064000"/>
            <a:ext cx="8674100" cy="719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100" b="0">
                <a:solidFill>
                  <a:srgbClr val="C9D3E8"/>
                </a:solidFill>
                <a:latin typeface="Segoe UI"/>
              </a:rPr>
              <a:t>The tool asks first for a large diff, suggests a model per reader, and the eval records the tokens each run used.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4400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65"/>
              </a:lnSpc>
            </a:pPr>
            <a:r>
              <a:rPr sz="3300" b="0" spc="-75">
                <a:solidFill>
                  <a:srgbClr val="F2F5FA"/>
                </a:solidFill>
                <a:latin typeface="Segoe UI Semibold"/>
              </a:rPr>
              <a:t>On Monday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5854700"/>
            <a:ext cx="108077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9"/>
              </a:lnSpc>
            </a:pPr>
            <a:r>
              <a:rPr sz="1700" b="0">
                <a:solidFill>
                  <a:srgbClr val="C9D3E8"/>
                </a:solidFill>
                <a:latin typeface="Segoe UI"/>
              </a:rPr>
              <a:t>Free, free, and one reader. Fix what it finds. Stop here if that is enough.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397029"/>
            <a:ext cx="10807700" cy="181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8A97B1"/>
                </a:solidFill>
                <a:latin typeface="Segoe UI"/>
              </a:rPr>
              <a:t>Levels 1 and 2 of the README.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651000"/>
            <a:ext cx="9944100" cy="1373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408"/>
              </a:lnSpc>
            </a:pPr>
            <a:r>
              <a:rPr sz="5200" b="0" spc="-100">
                <a:solidFill>
                  <a:srgbClr val="F2F5FA"/>
                </a:solidFill>
                <a:latin typeface="Segoe UI Semibold"/>
              </a:rPr>
              <a:t>Start at level 1. </a:t>
            </a:r>
            <a:r>
              <a:rPr sz="5200" b="0" spc="-100">
                <a:solidFill>
                  <a:srgbClr val="3DD9FF"/>
                </a:solidFill>
                <a:latin typeface="Segoe UI Semibold"/>
              </a:rPr>
              <a:t>Stop when it is enough.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3378200"/>
            <a:ext cx="8674100" cy="3599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100" b="0">
                <a:solidFill>
                  <a:srgbClr val="C9D3E8"/>
                </a:solidFill>
                <a:latin typeface="Segoe UI"/>
              </a:rPr>
              <a:t>github.com/kenchris/review-loop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586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20"/>
              </a:lnSpc>
            </a:pPr>
            <a:r>
              <a:rPr sz="4400" b="0" spc="-75">
                <a:solidFill>
                  <a:srgbClr val="3DD9FF"/>
                </a:solidFill>
                <a:latin typeface="Segoe UI Semibold"/>
              </a:rPr>
              <a:t>Read more,</a:t>
            </a:r>
            <a:r>
              <a:rPr sz="4400" b="0" spc="-75">
                <a:solidFill>
                  <a:srgbClr val="F2F5FA"/>
                </a:solidFill>
                <a:latin typeface="Segoe UI Semibold"/>
              </a:rPr>
              <a:t> and try it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3810000"/>
            <a:ext cx="9563100" cy="8289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528"/>
              </a:lnSpc>
            </a:pPr>
            <a:r>
              <a:rPr sz="6400" b="0" spc="-150">
                <a:solidFill>
                  <a:srgbClr val="F2F5FA"/>
                </a:solidFill>
                <a:latin typeface="Segoe UI Semibold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5270500"/>
            <a:ext cx="8293100" cy="377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70"/>
              </a:lnSpc>
            </a:pPr>
            <a:r>
              <a:rPr sz="2200" b="0">
                <a:solidFill>
                  <a:srgbClr val="C9D3E8"/>
                </a:solidFill>
                <a:latin typeface="Segoe UI"/>
              </a:rPr>
              <a:t>On your own branch. About 20 minutes.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586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20"/>
              </a:lnSpc>
            </a:pPr>
            <a:r>
              <a:rPr sz="4400" b="0" spc="-75">
                <a:solidFill>
                  <a:srgbClr val="F2F5FA"/>
                </a:solidFill>
                <a:latin typeface="Segoe UI Semibold"/>
              </a:rPr>
              <a:t>Six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2806700"/>
            <a:ext cx="11557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500" b="0" spc="-50">
                <a:solidFill>
                  <a:srgbClr val="F2F5FA"/>
                </a:solidFill>
                <a:latin typeface="Segoe UI Semibold"/>
              </a:rPr>
              <a:t>Install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3302000"/>
            <a:ext cx="1155700" cy="841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B9C5DD"/>
                </a:solidFill>
                <a:latin typeface="Segoe UI"/>
              </a:rPr>
              <a:t>review-loop doctor shows 8 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4000" y="2806700"/>
            <a:ext cx="11557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500" b="0" spc="-50">
                <a:solidFill>
                  <a:srgbClr val="F2F5FA"/>
                </a:solidFill>
                <a:latin typeface="Segoe UI Semibold"/>
              </a:rPr>
              <a:t>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94000" y="3302000"/>
            <a:ext cx="1155700" cy="1121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B9C5DD"/>
                </a:solidFill>
                <a:latin typeface="Segoe UI"/>
              </a:rPr>
              <a:t>/pre-pr-review on a branch with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22800" y="2806700"/>
            <a:ext cx="11557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500" b="0" spc="-50">
                <a:solidFill>
                  <a:srgbClr val="F2F5FA"/>
                </a:solidFill>
                <a:latin typeface="Segoe UI Semibold"/>
              </a:rPr>
              <a:t>Compare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2800" y="3302000"/>
            <a:ext cx="1155700" cy="841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B9C5DD"/>
                </a:solidFill>
                <a:latin typeface="Segoe UI"/>
              </a:rPr>
              <a:t>review-loop depth, then sweeps.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1600" y="2806700"/>
            <a:ext cx="11557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500" b="0" spc="-50">
                <a:solidFill>
                  <a:srgbClr val="F2F5FA"/>
                </a:solidFill>
                <a:latin typeface="Segoe UI Semibold"/>
              </a:rPr>
              <a:t>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1600" y="3302000"/>
            <a:ext cx="1155700" cy="841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B9C5DD"/>
                </a:solidFill>
                <a:latin typeface="Segoe UI"/>
              </a:rPr>
              <a:t>review-loop init, edit REVIEW.md.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0400" y="2806700"/>
            <a:ext cx="11557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500" b="0" spc="-50">
                <a:solidFill>
                  <a:srgbClr val="F2F5FA"/>
                </a:solidFill>
                <a:latin typeface="Segoe UI Semibold"/>
              </a:rPr>
              <a:t>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0400" y="3302000"/>
            <a:ext cx="1155700" cy="841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B9C5DD"/>
                </a:solidFill>
                <a:latin typeface="Segoe UI"/>
              </a:rPr>
              <a:t>Save a report, run the gate.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09200" y="2806700"/>
            <a:ext cx="11557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500" b="0" spc="-50">
                <a:solidFill>
                  <a:srgbClr val="F2F5FA"/>
                </a:solidFill>
                <a:latin typeface="Segoe UI Semibold"/>
              </a:rPr>
              <a:t>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09200" y="3302000"/>
            <a:ext cx="1155700" cy="1121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8"/>
              </a:lnSpc>
            </a:pPr>
            <a:r>
              <a:rPr sz="1600" b="0">
                <a:solidFill>
                  <a:srgbClr val="B9C5DD"/>
                </a:solidFill>
                <a:latin typeface="Segoe UI"/>
              </a:rPr>
              <a:t>Optional: threads sync, then /retro.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4400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65"/>
              </a:lnSpc>
            </a:pPr>
            <a:r>
              <a:rPr sz="3300" b="0" spc="-75">
                <a:solidFill>
                  <a:srgbClr val="F2F5FA"/>
                </a:solidFill>
                <a:latin typeface="Segoe UI Semibold"/>
              </a:rPr>
              <a:t>Install, ask, 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5854700"/>
            <a:ext cx="108077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9"/>
              </a:lnSpc>
            </a:pPr>
            <a:r>
              <a:rPr sz="1700" b="0">
                <a:solidFill>
                  <a:srgbClr val="C9D3E8"/>
                </a:solidFill>
                <a:latin typeface="Segoe UI"/>
              </a:rPr>
              <a:t>Did the review find something the sweeps did not? Did the sweeps ask something the review answered?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838200"/>
            <a:ext cx="10807700" cy="4400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65"/>
              </a:lnSpc>
            </a:pPr>
            <a:r>
              <a:rPr sz="3300" b="0" spc="-75">
                <a:solidFill>
                  <a:srgbClr val="F2F5FA"/>
                </a:solidFill>
                <a:latin typeface="Segoe UI Semibold"/>
              </a:rPr>
              <a:t>Setup, then the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5854700"/>
            <a:ext cx="108077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9"/>
              </a:lnSpc>
            </a:pPr>
            <a:r>
              <a:rPr sz="1700" b="0">
                <a:solidFill>
                  <a:srgbClr val="C9D3E8"/>
                </a:solidFill>
                <a:latin typeface="Segoe UI"/>
              </a:rPr>
              <a:t>Edit REVIEW.md first: three lines on what failure means in your project.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1651000"/>
            <a:ext cx="9944100" cy="1373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408"/>
              </a:lnSpc>
            </a:pPr>
            <a:r>
              <a:rPr sz="5200" b="0" spc="-100">
                <a:solidFill>
                  <a:srgbClr val="F2F5FA"/>
                </a:solidFill>
                <a:latin typeface="Segoe UI Semibold"/>
              </a:rPr>
              <a:t>For those with </a:t>
            </a:r>
            <a:r>
              <a:rPr sz="5200" b="0" spc="-100">
                <a:solidFill>
                  <a:srgbClr val="3DD9FF"/>
                </a:solidFill>
                <a:latin typeface="Segoe UI Semibold"/>
              </a:rPr>
              <a:t>open pull requests</a:t>
            </a:r>
            <a:r>
              <a:rPr sz="5200" b="0" spc="-100">
                <a:solidFill>
                  <a:srgbClr val="F2F5FA"/>
                </a:solidFill>
                <a:latin typeface="Segoe UI Semibold"/>
              </a:rPr>
              <a:t> and review comments.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3378200"/>
            <a:ext cx="8674100" cy="719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100" b="0">
                <a:solidFill>
                  <a:srgbClr val="C9D3E8"/>
                </a:solidFill>
                <a:latin typeface="Segoe UI"/>
              </a:rPr>
              <a:t>review-loop threads sync --repo owner/name, then decide each thread. Then /retro, and read the list before you apply anything.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review loop</dc:title>
  <dc:subject/>
  <dc:creator>Kenneth Rohde Christiansen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